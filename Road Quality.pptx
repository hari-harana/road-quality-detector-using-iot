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tags/tag6.xml" ContentType="application/vnd.openxmlformats-officedocument.presentationml.tags+xml"/>
  <Override PartName="/ppt/tags/tag8.xml" ContentType="application/vnd.openxmlformats-officedocument.presentationml.tag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ags/tag4.xml" ContentType="application/vnd.openxmlformats-officedocument.presentationml.tags+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ags/tag12.xml" ContentType="application/vnd.openxmlformats-officedocument.presentationml.tag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tags/tag7.xml" ContentType="application/vnd.openxmlformats-officedocument.presentationml.tags+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Default Extension="jpeg" ContentType="image/jpeg"/>
  <Override PartName="/ppt/tags/tag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508" r:id="rId2"/>
    <p:sldId id="579" r:id="rId3"/>
    <p:sldId id="627" r:id="rId4"/>
    <p:sldId id="605" r:id="rId5"/>
    <p:sldId id="606" r:id="rId6"/>
    <p:sldId id="612" r:id="rId7"/>
    <p:sldId id="607" r:id="rId8"/>
    <p:sldId id="629" r:id="rId9"/>
    <p:sldId id="630" r:id="rId10"/>
    <p:sldId id="631" r:id="rId11"/>
    <p:sldId id="632" r:id="rId12"/>
    <p:sldId id="633" r:id="rId13"/>
    <p:sldId id="626" r:id="rId14"/>
    <p:sldId id="615" r:id="rId15"/>
    <p:sldId id="635" r:id="rId16"/>
    <p:sldId id="619" r:id="rId17"/>
    <p:sldId id="636" r:id="rId18"/>
    <p:sldId id="637" r:id="rId19"/>
    <p:sldId id="638" r:id="rId20"/>
    <p:sldId id="639" r:id="rId21"/>
    <p:sldId id="611" r:id="rId22"/>
    <p:sldId id="625" r:id="rId23"/>
    <p:sldId id="604" r:id="rId24"/>
  </p:sldIdLst>
  <p:sldSz cx="9144000" cy="5143500" type="screen16x9"/>
  <p:notesSz cx="6735763" cy="9869488"/>
  <p:defaultTextStyle>
    <a:defPPr>
      <a:defRPr lang="en-US"/>
    </a:defPPr>
    <a:lvl1pPr marL="0" algn="l" defTabSz="901927" rtl="0" eaLnBrk="1" latinLnBrk="0" hangingPunct="1">
      <a:defRPr sz="1700" kern="1200">
        <a:solidFill>
          <a:schemeClr val="tx1"/>
        </a:solidFill>
        <a:latin typeface="+mn-lt"/>
        <a:ea typeface="+mn-ea"/>
        <a:cs typeface="+mn-cs"/>
      </a:defRPr>
    </a:lvl1pPr>
    <a:lvl2pPr marL="450965" algn="l" defTabSz="901927" rtl="0" eaLnBrk="1" latinLnBrk="0" hangingPunct="1">
      <a:defRPr sz="1700" kern="1200">
        <a:solidFill>
          <a:schemeClr val="tx1"/>
        </a:solidFill>
        <a:latin typeface="+mn-lt"/>
        <a:ea typeface="+mn-ea"/>
        <a:cs typeface="+mn-cs"/>
      </a:defRPr>
    </a:lvl2pPr>
    <a:lvl3pPr marL="901927" algn="l" defTabSz="901927" rtl="0" eaLnBrk="1" latinLnBrk="0" hangingPunct="1">
      <a:defRPr sz="1700" kern="1200">
        <a:solidFill>
          <a:schemeClr val="tx1"/>
        </a:solidFill>
        <a:latin typeface="+mn-lt"/>
        <a:ea typeface="+mn-ea"/>
        <a:cs typeface="+mn-cs"/>
      </a:defRPr>
    </a:lvl3pPr>
    <a:lvl4pPr marL="1352892" algn="l" defTabSz="901927" rtl="0" eaLnBrk="1" latinLnBrk="0" hangingPunct="1">
      <a:defRPr sz="1700" kern="1200">
        <a:solidFill>
          <a:schemeClr val="tx1"/>
        </a:solidFill>
        <a:latin typeface="+mn-lt"/>
        <a:ea typeface="+mn-ea"/>
        <a:cs typeface="+mn-cs"/>
      </a:defRPr>
    </a:lvl4pPr>
    <a:lvl5pPr marL="1803857" algn="l" defTabSz="901927" rtl="0" eaLnBrk="1" latinLnBrk="0" hangingPunct="1">
      <a:defRPr sz="1700" kern="1200">
        <a:solidFill>
          <a:schemeClr val="tx1"/>
        </a:solidFill>
        <a:latin typeface="+mn-lt"/>
        <a:ea typeface="+mn-ea"/>
        <a:cs typeface="+mn-cs"/>
      </a:defRPr>
    </a:lvl5pPr>
    <a:lvl6pPr marL="2254820" algn="l" defTabSz="901927" rtl="0" eaLnBrk="1" latinLnBrk="0" hangingPunct="1">
      <a:defRPr sz="1700" kern="1200">
        <a:solidFill>
          <a:schemeClr val="tx1"/>
        </a:solidFill>
        <a:latin typeface="+mn-lt"/>
        <a:ea typeface="+mn-ea"/>
        <a:cs typeface="+mn-cs"/>
      </a:defRPr>
    </a:lvl6pPr>
    <a:lvl7pPr marL="2705784" algn="l" defTabSz="901927" rtl="0" eaLnBrk="1" latinLnBrk="0" hangingPunct="1">
      <a:defRPr sz="1700" kern="1200">
        <a:solidFill>
          <a:schemeClr val="tx1"/>
        </a:solidFill>
        <a:latin typeface="+mn-lt"/>
        <a:ea typeface="+mn-ea"/>
        <a:cs typeface="+mn-cs"/>
      </a:defRPr>
    </a:lvl7pPr>
    <a:lvl8pPr marL="3156747" algn="l" defTabSz="901927" rtl="0" eaLnBrk="1" latinLnBrk="0" hangingPunct="1">
      <a:defRPr sz="1700" kern="1200">
        <a:solidFill>
          <a:schemeClr val="tx1"/>
        </a:solidFill>
        <a:latin typeface="+mn-lt"/>
        <a:ea typeface="+mn-ea"/>
        <a:cs typeface="+mn-cs"/>
      </a:defRPr>
    </a:lvl8pPr>
    <a:lvl9pPr marL="3607712" algn="l" defTabSz="901927" rtl="0" eaLnBrk="1" latinLnBrk="0" hangingPunct="1">
      <a:defRPr sz="17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CC"/>
    <a:srgbClr val="000066"/>
    <a:srgbClr val="006600"/>
    <a:srgbClr val="B30D9B"/>
    <a:srgbClr val="CC3300"/>
    <a:srgbClr val="000099"/>
    <a:srgbClr val="FF3399"/>
    <a:srgbClr val="66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1" d="100"/>
          <a:sy n="91" d="100"/>
        </p:scale>
        <p:origin x="-786" y="-96"/>
      </p:cViewPr>
      <p:guideLst>
        <p:guide orient="horz" pos="1620"/>
        <p:guide pos="2880"/>
      </p:guideLst>
    </p:cSldViewPr>
  </p:slideViewPr>
  <p:notesTextViewPr>
    <p:cViewPr>
      <p:scale>
        <a:sx n="1" d="1"/>
        <a:sy n="1" d="1"/>
      </p:scale>
      <p:origin x="0" y="0"/>
    </p:cViewPr>
  </p:notesTextViewPr>
  <p:sorterViewPr>
    <p:cViewPr>
      <p:scale>
        <a:sx n="130" d="100"/>
        <a:sy n="13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474"/>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15373" y="0"/>
            <a:ext cx="2918831" cy="493474"/>
          </a:xfrm>
          <a:prstGeom prst="rect">
            <a:avLst/>
          </a:prstGeom>
        </p:spPr>
        <p:txBody>
          <a:bodyPr vert="horz" lIns="91440" tIns="45720" rIns="91440" bIns="45720" rtlCol="0"/>
          <a:lstStyle>
            <a:lvl1pPr algn="r">
              <a:defRPr sz="1200"/>
            </a:lvl1pPr>
          </a:lstStyle>
          <a:p>
            <a:fld id="{3C6BFB22-DDC2-46AB-8469-4F44BEB72FE7}" type="datetimeFigureOut">
              <a:rPr lang="en-IN" smtClean="0"/>
              <a:pPr/>
              <a:t>28-04-2023</a:t>
            </a:fld>
            <a:endParaRPr lang="en-IN"/>
          </a:p>
        </p:txBody>
      </p:sp>
      <p:sp>
        <p:nvSpPr>
          <p:cNvPr id="4" name="Slide Image Placeholder 3"/>
          <p:cNvSpPr>
            <a:spLocks noGrp="1" noRot="1" noChangeAspect="1"/>
          </p:cNvSpPr>
          <p:nvPr>
            <p:ph type="sldImg" idx="2"/>
          </p:nvPr>
        </p:nvSpPr>
        <p:spPr>
          <a:xfrm>
            <a:off x="77788" y="739775"/>
            <a:ext cx="6580187" cy="37020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3577" y="4688007"/>
            <a:ext cx="5388610" cy="444127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374301"/>
            <a:ext cx="2918831" cy="493474"/>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15373" y="9374301"/>
            <a:ext cx="2918831" cy="493474"/>
          </a:xfrm>
          <a:prstGeom prst="rect">
            <a:avLst/>
          </a:prstGeom>
        </p:spPr>
        <p:txBody>
          <a:bodyPr vert="horz" lIns="91440" tIns="45720" rIns="91440" bIns="45720" rtlCol="0" anchor="b"/>
          <a:lstStyle>
            <a:lvl1pPr algn="r">
              <a:defRPr sz="1200"/>
            </a:lvl1pPr>
          </a:lstStyle>
          <a:p>
            <a:fld id="{6D343335-6A54-4B3F-846E-C32CBF096BD9}" type="slidenum">
              <a:rPr lang="en-IN" smtClean="0"/>
              <a:pPr/>
              <a:t>‹#›</a:t>
            </a:fld>
            <a:endParaRPr lang="en-IN"/>
          </a:p>
        </p:txBody>
      </p:sp>
    </p:spTree>
    <p:extLst>
      <p:ext uri="{BB962C8B-B14F-4D97-AF65-F5344CB8AC3E}">
        <p14:creationId xmlns:p14="http://schemas.microsoft.com/office/powerpoint/2010/main" xmlns="" val="2948723144"/>
      </p:ext>
    </p:extLst>
  </p:cSld>
  <p:clrMap bg1="lt1" tx1="dk1" bg2="lt2" tx2="dk2" accent1="accent1" accent2="accent2" accent3="accent3" accent4="accent4" accent5="accent5" accent6="accent6" hlink="hlink" folHlink="folHlink"/>
  <p:notesStyle>
    <a:lvl1pPr marL="0" algn="l" defTabSz="901927" rtl="0" eaLnBrk="1" latinLnBrk="0" hangingPunct="1">
      <a:defRPr sz="1200" kern="1200">
        <a:solidFill>
          <a:schemeClr val="tx1"/>
        </a:solidFill>
        <a:latin typeface="+mn-lt"/>
        <a:ea typeface="+mn-ea"/>
        <a:cs typeface="+mn-cs"/>
      </a:defRPr>
    </a:lvl1pPr>
    <a:lvl2pPr marL="450965" algn="l" defTabSz="901927" rtl="0" eaLnBrk="1" latinLnBrk="0" hangingPunct="1">
      <a:defRPr sz="1200" kern="1200">
        <a:solidFill>
          <a:schemeClr val="tx1"/>
        </a:solidFill>
        <a:latin typeface="+mn-lt"/>
        <a:ea typeface="+mn-ea"/>
        <a:cs typeface="+mn-cs"/>
      </a:defRPr>
    </a:lvl2pPr>
    <a:lvl3pPr marL="901927" algn="l" defTabSz="901927" rtl="0" eaLnBrk="1" latinLnBrk="0" hangingPunct="1">
      <a:defRPr sz="1200" kern="1200">
        <a:solidFill>
          <a:schemeClr val="tx1"/>
        </a:solidFill>
        <a:latin typeface="+mn-lt"/>
        <a:ea typeface="+mn-ea"/>
        <a:cs typeface="+mn-cs"/>
      </a:defRPr>
    </a:lvl3pPr>
    <a:lvl4pPr marL="1352892" algn="l" defTabSz="901927" rtl="0" eaLnBrk="1" latinLnBrk="0" hangingPunct="1">
      <a:defRPr sz="1200" kern="1200">
        <a:solidFill>
          <a:schemeClr val="tx1"/>
        </a:solidFill>
        <a:latin typeface="+mn-lt"/>
        <a:ea typeface="+mn-ea"/>
        <a:cs typeface="+mn-cs"/>
      </a:defRPr>
    </a:lvl4pPr>
    <a:lvl5pPr marL="1803857" algn="l" defTabSz="901927" rtl="0" eaLnBrk="1" latinLnBrk="0" hangingPunct="1">
      <a:defRPr sz="1200" kern="1200">
        <a:solidFill>
          <a:schemeClr val="tx1"/>
        </a:solidFill>
        <a:latin typeface="+mn-lt"/>
        <a:ea typeface="+mn-ea"/>
        <a:cs typeface="+mn-cs"/>
      </a:defRPr>
    </a:lvl5pPr>
    <a:lvl6pPr marL="2254820" algn="l" defTabSz="901927" rtl="0" eaLnBrk="1" latinLnBrk="0" hangingPunct="1">
      <a:defRPr sz="1200" kern="1200">
        <a:solidFill>
          <a:schemeClr val="tx1"/>
        </a:solidFill>
        <a:latin typeface="+mn-lt"/>
        <a:ea typeface="+mn-ea"/>
        <a:cs typeface="+mn-cs"/>
      </a:defRPr>
    </a:lvl6pPr>
    <a:lvl7pPr marL="2705784" algn="l" defTabSz="901927" rtl="0" eaLnBrk="1" latinLnBrk="0" hangingPunct="1">
      <a:defRPr sz="1200" kern="1200">
        <a:solidFill>
          <a:schemeClr val="tx1"/>
        </a:solidFill>
        <a:latin typeface="+mn-lt"/>
        <a:ea typeface="+mn-ea"/>
        <a:cs typeface="+mn-cs"/>
      </a:defRPr>
    </a:lvl7pPr>
    <a:lvl8pPr marL="3156747" algn="l" defTabSz="901927" rtl="0" eaLnBrk="1" latinLnBrk="0" hangingPunct="1">
      <a:defRPr sz="1200" kern="1200">
        <a:solidFill>
          <a:schemeClr val="tx1"/>
        </a:solidFill>
        <a:latin typeface="+mn-lt"/>
        <a:ea typeface="+mn-ea"/>
        <a:cs typeface="+mn-cs"/>
      </a:defRPr>
    </a:lvl8pPr>
    <a:lvl9pPr marL="3607712" algn="l" defTabSz="90192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D343335-6A54-4B3F-846E-C32CBF096BD9}" type="slidenum">
              <a:rPr lang="en-IN" smtClean="0"/>
              <a:pPr/>
              <a:t>1</a:t>
            </a:fld>
            <a:endParaRPr lang="en-IN"/>
          </a:p>
        </p:txBody>
      </p:sp>
    </p:spTree>
    <p:extLst>
      <p:ext uri="{BB962C8B-B14F-4D97-AF65-F5344CB8AC3E}">
        <p14:creationId xmlns:p14="http://schemas.microsoft.com/office/powerpoint/2010/main" xmlns="" val="80967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343335-6A54-4B3F-846E-C32CBF096BD9}" type="slidenum">
              <a:rPr lang="en-IN" smtClean="0"/>
              <a:pPr/>
              <a:t>5</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D343335-6A54-4B3F-846E-C32CBF096BD9}" type="slidenum">
              <a:rPr lang="en-IN" smtClean="0"/>
              <a:pPr/>
              <a:t>15</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D343335-6A54-4B3F-846E-C32CBF096BD9}" type="slidenum">
              <a:rPr lang="en-IN" smtClean="0"/>
              <a:pPr/>
              <a:t>22</a:t>
            </a:fld>
            <a:endParaRPr lang="en-IN"/>
          </a:p>
        </p:txBody>
      </p:sp>
    </p:spTree>
    <p:extLst>
      <p:ext uri="{BB962C8B-B14F-4D97-AF65-F5344CB8AC3E}">
        <p14:creationId xmlns:p14="http://schemas.microsoft.com/office/powerpoint/2010/main" xmlns="" val="3556998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1" y="1597824"/>
            <a:ext cx="7772400" cy="1102517"/>
          </a:xfrm>
        </p:spPr>
        <p:txBody>
          <a:bodyPr/>
          <a:lstStyle/>
          <a:p>
            <a:r>
              <a:rPr lang="en-US"/>
              <a:t>Click to edit Master title style</a:t>
            </a:r>
            <a:endParaRPr lang="en-IN"/>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0965" indent="0" algn="ctr">
              <a:buNone/>
              <a:defRPr>
                <a:solidFill>
                  <a:schemeClr val="tx1">
                    <a:tint val="75000"/>
                  </a:schemeClr>
                </a:solidFill>
              </a:defRPr>
            </a:lvl2pPr>
            <a:lvl3pPr marL="901927" indent="0" algn="ctr">
              <a:buNone/>
              <a:defRPr>
                <a:solidFill>
                  <a:schemeClr val="tx1">
                    <a:tint val="75000"/>
                  </a:schemeClr>
                </a:solidFill>
              </a:defRPr>
            </a:lvl3pPr>
            <a:lvl4pPr marL="1352892" indent="0" algn="ctr">
              <a:buNone/>
              <a:defRPr>
                <a:solidFill>
                  <a:schemeClr val="tx1">
                    <a:tint val="75000"/>
                  </a:schemeClr>
                </a:solidFill>
              </a:defRPr>
            </a:lvl4pPr>
            <a:lvl5pPr marL="1803857" indent="0" algn="ctr">
              <a:buNone/>
              <a:defRPr>
                <a:solidFill>
                  <a:schemeClr val="tx1">
                    <a:tint val="75000"/>
                  </a:schemeClr>
                </a:solidFill>
              </a:defRPr>
            </a:lvl5pPr>
            <a:lvl6pPr marL="2254820" indent="0" algn="ctr">
              <a:buNone/>
              <a:defRPr>
                <a:solidFill>
                  <a:schemeClr val="tx1">
                    <a:tint val="75000"/>
                  </a:schemeClr>
                </a:solidFill>
              </a:defRPr>
            </a:lvl6pPr>
            <a:lvl7pPr marL="2705784" indent="0" algn="ctr">
              <a:buNone/>
              <a:defRPr>
                <a:solidFill>
                  <a:schemeClr val="tx1">
                    <a:tint val="75000"/>
                  </a:schemeClr>
                </a:solidFill>
              </a:defRPr>
            </a:lvl7pPr>
            <a:lvl8pPr marL="3156747" indent="0" algn="ctr">
              <a:buNone/>
              <a:defRPr>
                <a:solidFill>
                  <a:schemeClr val="tx1">
                    <a:tint val="75000"/>
                  </a:schemeClr>
                </a:solidFill>
              </a:defRPr>
            </a:lvl8pPr>
            <a:lvl9pPr marL="3607712"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818BEB1-65BE-42DD-8B33-1464842DE745}"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6" name="Slide Number Placeholder 5"/>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13431538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F2E464D-953D-4A98-8406-279920E8DCDF}"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6" name="Slide Number Placeholder 5"/>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2594889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3305178"/>
            <a:ext cx="7772400" cy="1021556"/>
          </a:xfrm>
        </p:spPr>
        <p:txBody>
          <a:bodyPr anchor="t"/>
          <a:lstStyle>
            <a:lvl1pPr algn="l">
              <a:defRPr sz="4100" b="1" cap="all"/>
            </a:lvl1pPr>
          </a:lstStyle>
          <a:p>
            <a:r>
              <a:rPr lang="en-US"/>
              <a:t>Click to edit Master title style</a:t>
            </a:r>
            <a:endParaRPr lang="en-IN"/>
          </a:p>
        </p:txBody>
      </p:sp>
      <p:sp>
        <p:nvSpPr>
          <p:cNvPr id="3" name="Text Placeholder 2"/>
          <p:cNvSpPr>
            <a:spLocks noGrp="1"/>
          </p:cNvSpPr>
          <p:nvPr>
            <p:ph type="body" idx="1"/>
          </p:nvPr>
        </p:nvSpPr>
        <p:spPr>
          <a:xfrm>
            <a:off x="722314" y="2180039"/>
            <a:ext cx="7772400" cy="1125141"/>
          </a:xfrm>
        </p:spPr>
        <p:txBody>
          <a:bodyPr anchor="b"/>
          <a:lstStyle>
            <a:lvl1pPr marL="0" indent="0">
              <a:buNone/>
              <a:defRPr sz="1900">
                <a:solidFill>
                  <a:schemeClr val="tx1">
                    <a:tint val="75000"/>
                  </a:schemeClr>
                </a:solidFill>
              </a:defRPr>
            </a:lvl1pPr>
            <a:lvl2pPr marL="450965" indent="0">
              <a:buNone/>
              <a:defRPr sz="1700">
                <a:solidFill>
                  <a:schemeClr val="tx1">
                    <a:tint val="75000"/>
                  </a:schemeClr>
                </a:solidFill>
              </a:defRPr>
            </a:lvl2pPr>
            <a:lvl3pPr marL="901927" indent="0">
              <a:buNone/>
              <a:defRPr sz="1600">
                <a:solidFill>
                  <a:schemeClr val="tx1">
                    <a:tint val="75000"/>
                  </a:schemeClr>
                </a:solidFill>
              </a:defRPr>
            </a:lvl3pPr>
            <a:lvl4pPr marL="1352892" indent="0">
              <a:buNone/>
              <a:defRPr sz="1400">
                <a:solidFill>
                  <a:schemeClr val="tx1">
                    <a:tint val="75000"/>
                  </a:schemeClr>
                </a:solidFill>
              </a:defRPr>
            </a:lvl4pPr>
            <a:lvl5pPr marL="1803857" indent="0">
              <a:buNone/>
              <a:defRPr sz="1400">
                <a:solidFill>
                  <a:schemeClr val="tx1">
                    <a:tint val="75000"/>
                  </a:schemeClr>
                </a:solidFill>
              </a:defRPr>
            </a:lvl5pPr>
            <a:lvl6pPr marL="2254820" indent="0">
              <a:buNone/>
              <a:defRPr sz="1400">
                <a:solidFill>
                  <a:schemeClr val="tx1">
                    <a:tint val="75000"/>
                  </a:schemeClr>
                </a:solidFill>
              </a:defRPr>
            </a:lvl6pPr>
            <a:lvl7pPr marL="2705784" indent="0">
              <a:buNone/>
              <a:defRPr sz="1400">
                <a:solidFill>
                  <a:schemeClr val="tx1">
                    <a:tint val="75000"/>
                  </a:schemeClr>
                </a:solidFill>
              </a:defRPr>
            </a:lvl7pPr>
            <a:lvl8pPr marL="3156747" indent="0">
              <a:buNone/>
              <a:defRPr sz="1400">
                <a:solidFill>
                  <a:schemeClr val="tx1">
                    <a:tint val="75000"/>
                  </a:schemeClr>
                </a:solidFill>
              </a:defRPr>
            </a:lvl8pPr>
            <a:lvl9pPr marL="3607712"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D9CD37-D757-46D8-9893-F8F06B69215F}"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6" name="Slide Number Placeholder 5"/>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741231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1" y="1200150"/>
            <a:ext cx="4038600" cy="3394474"/>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1" y="1200150"/>
            <a:ext cx="4038600" cy="3394474"/>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5997326-B3FA-4356-A19C-939D35EDDAC8}" type="datetime1">
              <a:rPr lang="en-IN" smtClean="0">
                <a:solidFill>
                  <a:prstClr val="black">
                    <a:tint val="75000"/>
                  </a:prstClr>
                </a:solidFill>
              </a:rPr>
              <a:pPr/>
              <a:t>28-04-2023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7" name="Slide Number Placeholder 6"/>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771772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review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151337"/>
            <a:ext cx="4040188" cy="479824"/>
          </a:xfrm>
        </p:spPr>
        <p:txBody>
          <a:bodyPr anchor="b"/>
          <a:lstStyle>
            <a:lvl1pPr marL="0" indent="0">
              <a:buNone/>
              <a:defRPr sz="2300" b="1"/>
            </a:lvl1pPr>
            <a:lvl2pPr marL="450965" indent="0">
              <a:buNone/>
              <a:defRPr sz="1900" b="1"/>
            </a:lvl2pPr>
            <a:lvl3pPr marL="901927" indent="0">
              <a:buNone/>
              <a:defRPr sz="1700" b="1"/>
            </a:lvl3pPr>
            <a:lvl4pPr marL="1352892" indent="0">
              <a:buNone/>
              <a:defRPr sz="1600" b="1"/>
            </a:lvl4pPr>
            <a:lvl5pPr marL="1803857" indent="0">
              <a:buNone/>
              <a:defRPr sz="1600" b="1"/>
            </a:lvl5pPr>
            <a:lvl6pPr marL="2254820" indent="0">
              <a:buNone/>
              <a:defRPr sz="1600" b="1"/>
            </a:lvl6pPr>
            <a:lvl7pPr marL="2705784" indent="0">
              <a:buNone/>
              <a:defRPr sz="1600" b="1"/>
            </a:lvl7pPr>
            <a:lvl8pPr marL="3156747" indent="0">
              <a:buNone/>
              <a:defRPr sz="1600" b="1"/>
            </a:lvl8pPr>
            <a:lvl9pPr marL="360771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60"/>
            <a:ext cx="4040188" cy="2963464"/>
          </a:xfrm>
        </p:spPr>
        <p:txBody>
          <a:bodyPr/>
          <a:lstStyle>
            <a:lvl1pPr>
              <a:defRPr sz="2300"/>
            </a:lvl1pPr>
            <a:lvl2pPr>
              <a:defRPr sz="1900"/>
            </a:lvl2pPr>
            <a:lvl3pPr>
              <a:defRPr sz="17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30" y="1151337"/>
            <a:ext cx="4041775" cy="479824"/>
          </a:xfrm>
        </p:spPr>
        <p:txBody>
          <a:bodyPr anchor="b"/>
          <a:lstStyle>
            <a:lvl1pPr marL="0" indent="0">
              <a:buNone/>
              <a:defRPr sz="2300" b="1"/>
            </a:lvl1pPr>
            <a:lvl2pPr marL="450965" indent="0">
              <a:buNone/>
              <a:defRPr sz="1900" b="1"/>
            </a:lvl2pPr>
            <a:lvl3pPr marL="901927" indent="0">
              <a:buNone/>
              <a:defRPr sz="1700" b="1"/>
            </a:lvl3pPr>
            <a:lvl4pPr marL="1352892" indent="0">
              <a:buNone/>
              <a:defRPr sz="1600" b="1"/>
            </a:lvl4pPr>
            <a:lvl5pPr marL="1803857" indent="0">
              <a:buNone/>
              <a:defRPr sz="1600" b="1"/>
            </a:lvl5pPr>
            <a:lvl6pPr marL="2254820" indent="0">
              <a:buNone/>
              <a:defRPr sz="1600" b="1"/>
            </a:lvl6pPr>
            <a:lvl7pPr marL="2705784" indent="0">
              <a:buNone/>
              <a:defRPr sz="1600" b="1"/>
            </a:lvl7pPr>
            <a:lvl8pPr marL="3156747" indent="0">
              <a:buNone/>
              <a:defRPr sz="1600" b="1"/>
            </a:lvl8pPr>
            <a:lvl9pPr marL="360771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631160"/>
            <a:ext cx="4041775" cy="2963464"/>
          </a:xfrm>
        </p:spPr>
        <p:txBody>
          <a:bodyPr/>
          <a:lstStyle>
            <a:lvl1pPr>
              <a:defRPr sz="2300"/>
            </a:lvl1pPr>
            <a:lvl2pPr>
              <a:defRPr sz="1900"/>
            </a:lvl2pPr>
            <a:lvl3pPr>
              <a:defRPr sz="17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2D79C4F-96BB-4394-BF06-E9A70E912148}" type="datetime1">
              <a:rPr lang="en-IN" smtClean="0">
                <a:solidFill>
                  <a:prstClr val="black">
                    <a:tint val="75000"/>
                  </a:prstClr>
                </a:solidFill>
              </a:rPr>
              <a:pPr/>
              <a:t>28-04-2023</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9" name="Slide Number Placeholder 8"/>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3404974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3E6B54F-8BD8-4649-B5AE-07B288600E1B}" type="datetime1">
              <a:rPr lang="en-IN" smtClean="0">
                <a:solidFill>
                  <a:prstClr val="black">
                    <a:tint val="75000"/>
                  </a:prstClr>
                </a:solidFill>
              </a:rPr>
              <a:pPr/>
              <a:t>28-04-2023</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5" name="Slide Number Placeholder 4"/>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1481604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66511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04790"/>
            <a:ext cx="3008313" cy="871538"/>
          </a:xfrm>
        </p:spPr>
        <p:txBody>
          <a:bodyPr anchor="b"/>
          <a:lstStyle>
            <a:lvl1pPr algn="l">
              <a:defRPr sz="1900" b="1"/>
            </a:lvl1pPr>
          </a:lstStyle>
          <a:p>
            <a:r>
              <a:rPr lang="en-US"/>
              <a:t>Click to edit Master title style</a:t>
            </a:r>
            <a:endParaRPr lang="en-IN"/>
          </a:p>
        </p:txBody>
      </p:sp>
      <p:sp>
        <p:nvSpPr>
          <p:cNvPr id="3" name="Content Placeholder 2"/>
          <p:cNvSpPr>
            <a:spLocks noGrp="1"/>
          </p:cNvSpPr>
          <p:nvPr>
            <p:ph idx="1"/>
          </p:nvPr>
        </p:nvSpPr>
        <p:spPr>
          <a:xfrm>
            <a:off x="3575050" y="204792"/>
            <a:ext cx="5111750" cy="4389835"/>
          </a:xfrm>
        </p:spPr>
        <p:txBody>
          <a:bodyPr/>
          <a:lstStyle>
            <a:lvl1pPr>
              <a:defRPr sz="31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5" y="1076330"/>
            <a:ext cx="3008313" cy="3518297"/>
          </a:xfrm>
        </p:spPr>
        <p:txBody>
          <a:bodyPr/>
          <a:lstStyle>
            <a:lvl1pPr marL="0" indent="0">
              <a:buNone/>
              <a:defRPr sz="1400"/>
            </a:lvl1pPr>
            <a:lvl2pPr marL="450965" indent="0">
              <a:buNone/>
              <a:defRPr sz="1200"/>
            </a:lvl2pPr>
            <a:lvl3pPr marL="901927" indent="0">
              <a:buNone/>
              <a:defRPr sz="1000"/>
            </a:lvl3pPr>
            <a:lvl4pPr marL="1352892" indent="0">
              <a:buNone/>
              <a:defRPr sz="800"/>
            </a:lvl4pPr>
            <a:lvl5pPr marL="1803857" indent="0">
              <a:buNone/>
              <a:defRPr sz="800"/>
            </a:lvl5pPr>
            <a:lvl6pPr marL="2254820" indent="0">
              <a:buNone/>
              <a:defRPr sz="800"/>
            </a:lvl6pPr>
            <a:lvl7pPr marL="2705784" indent="0">
              <a:buNone/>
              <a:defRPr sz="800"/>
            </a:lvl7pPr>
            <a:lvl8pPr marL="3156747" indent="0">
              <a:buNone/>
              <a:defRPr sz="800"/>
            </a:lvl8pPr>
            <a:lvl9pPr marL="3607712"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9BC2EACC-BA8F-4C51-BC8E-3048106A0A87}" type="datetime1">
              <a:rPr lang="en-IN" smtClean="0">
                <a:solidFill>
                  <a:prstClr val="black">
                    <a:tint val="75000"/>
                  </a:prstClr>
                </a:solidFill>
              </a:rPr>
              <a:pPr/>
              <a:t>28-04-2023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7" name="Slide Number Placeholder 6"/>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684621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3"/>
            <a:ext cx="5486400" cy="425054"/>
          </a:xfrm>
        </p:spPr>
        <p:txBody>
          <a:bodyPr anchor="b"/>
          <a:lstStyle>
            <a:lvl1pPr algn="l">
              <a:defRPr sz="1900" b="1"/>
            </a:lvl1pPr>
          </a:lstStyle>
          <a:p>
            <a:r>
              <a:rPr lang="en-US"/>
              <a:t>Click to edit Master title style</a:t>
            </a:r>
            <a:endParaRPr lang="en-IN"/>
          </a:p>
        </p:txBody>
      </p:sp>
      <p:sp>
        <p:nvSpPr>
          <p:cNvPr id="3" name="Picture Placeholder 2"/>
          <p:cNvSpPr>
            <a:spLocks noGrp="1"/>
          </p:cNvSpPr>
          <p:nvPr>
            <p:ph type="pic" idx="1"/>
          </p:nvPr>
        </p:nvSpPr>
        <p:spPr>
          <a:xfrm>
            <a:off x="1792288" y="459580"/>
            <a:ext cx="5486400" cy="3086100"/>
          </a:xfrm>
        </p:spPr>
        <p:txBody>
          <a:bodyPr/>
          <a:lstStyle>
            <a:lvl1pPr marL="0" indent="0">
              <a:buNone/>
              <a:defRPr sz="3100"/>
            </a:lvl1pPr>
            <a:lvl2pPr marL="450965" indent="0">
              <a:buNone/>
              <a:defRPr sz="2700"/>
            </a:lvl2pPr>
            <a:lvl3pPr marL="901927" indent="0">
              <a:buNone/>
              <a:defRPr sz="2300"/>
            </a:lvl3pPr>
            <a:lvl4pPr marL="1352892" indent="0">
              <a:buNone/>
              <a:defRPr sz="1900"/>
            </a:lvl4pPr>
            <a:lvl5pPr marL="1803857" indent="0">
              <a:buNone/>
              <a:defRPr sz="1900"/>
            </a:lvl5pPr>
            <a:lvl6pPr marL="2254820" indent="0">
              <a:buNone/>
              <a:defRPr sz="1900"/>
            </a:lvl6pPr>
            <a:lvl7pPr marL="2705784" indent="0">
              <a:buNone/>
              <a:defRPr sz="1900"/>
            </a:lvl7pPr>
            <a:lvl8pPr marL="3156747" indent="0">
              <a:buNone/>
              <a:defRPr sz="1900"/>
            </a:lvl8pPr>
            <a:lvl9pPr marL="3607712" indent="0">
              <a:buNone/>
              <a:defRPr sz="1900"/>
            </a:lvl9pPr>
          </a:lstStyle>
          <a:p>
            <a:endParaRPr lang="en-IN"/>
          </a:p>
        </p:txBody>
      </p:sp>
      <p:sp>
        <p:nvSpPr>
          <p:cNvPr id="4" name="Text Placeholder 3"/>
          <p:cNvSpPr>
            <a:spLocks noGrp="1"/>
          </p:cNvSpPr>
          <p:nvPr>
            <p:ph type="body" sz="half" idx="2"/>
          </p:nvPr>
        </p:nvSpPr>
        <p:spPr>
          <a:xfrm>
            <a:off x="1792288" y="4025506"/>
            <a:ext cx="5486400" cy="603647"/>
          </a:xfrm>
        </p:spPr>
        <p:txBody>
          <a:bodyPr/>
          <a:lstStyle>
            <a:lvl1pPr marL="0" indent="0">
              <a:buNone/>
              <a:defRPr sz="1400"/>
            </a:lvl1pPr>
            <a:lvl2pPr marL="450965" indent="0">
              <a:buNone/>
              <a:defRPr sz="1200"/>
            </a:lvl2pPr>
            <a:lvl3pPr marL="901927" indent="0">
              <a:buNone/>
              <a:defRPr sz="1000"/>
            </a:lvl3pPr>
            <a:lvl4pPr marL="1352892" indent="0">
              <a:buNone/>
              <a:defRPr sz="800"/>
            </a:lvl4pPr>
            <a:lvl5pPr marL="1803857" indent="0">
              <a:buNone/>
              <a:defRPr sz="800"/>
            </a:lvl5pPr>
            <a:lvl6pPr marL="2254820" indent="0">
              <a:buNone/>
              <a:defRPr sz="800"/>
            </a:lvl6pPr>
            <a:lvl7pPr marL="2705784" indent="0">
              <a:buNone/>
              <a:defRPr sz="800"/>
            </a:lvl7pPr>
            <a:lvl8pPr marL="3156747" indent="0">
              <a:buNone/>
              <a:defRPr sz="800"/>
            </a:lvl8pPr>
            <a:lvl9pPr marL="3607712" indent="0">
              <a:buNone/>
              <a:defRPr sz="800"/>
            </a:lvl9pPr>
          </a:lstStyle>
          <a:p>
            <a:pPr lvl="0"/>
            <a:r>
              <a:rPr lang="en-US"/>
              <a:t>Click to edit Master text styles</a:t>
            </a:r>
          </a:p>
        </p:txBody>
      </p:sp>
      <p:sp>
        <p:nvSpPr>
          <p:cNvPr id="5" name="Date Placeholder 4"/>
          <p:cNvSpPr>
            <a:spLocks noGrp="1"/>
          </p:cNvSpPr>
          <p:nvPr>
            <p:ph type="dt" sz="half" idx="10"/>
          </p:nvPr>
        </p:nvSpPr>
        <p:spPr/>
        <p:txBody>
          <a:bodyPr/>
          <a:lstStyle/>
          <a:p>
            <a:fld id="{E1F7AB93-F454-44D0-B0CC-8C0490BD5A2D}" type="datetime1">
              <a:rPr lang="en-IN" smtClean="0">
                <a:solidFill>
                  <a:prstClr val="black">
                    <a:tint val="75000"/>
                  </a:prstClr>
                </a:solidFill>
              </a:rPr>
              <a:pPr/>
              <a:t>28-04-2023</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7" name="Slide Number Placeholder 6"/>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191856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E542040-150B-4C55-A841-AAAA51BF613F}"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6" name="Slide Number Placeholder 5"/>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763306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205985"/>
            <a:ext cx="2057400" cy="4388642"/>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05985"/>
            <a:ext cx="6019800" cy="438864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CF4EC8B-C17C-4259-960A-E0E33D361CC1}"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Computer Science and Engineering, Nehru Institute of Engineering and Technology</a:t>
            </a:r>
          </a:p>
        </p:txBody>
      </p:sp>
      <p:sp>
        <p:nvSpPr>
          <p:cNvPr id="6" name="Slide Number Placeholder 5"/>
          <p:cNvSpPr>
            <a:spLocks noGrp="1"/>
          </p:cNvSpPr>
          <p:nvPr>
            <p:ph type="sldNum" sz="quarter" idx="12"/>
          </p:nvPr>
        </p:nvSpPr>
        <p:spPr/>
        <p:txBody>
          <a:body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1726234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1" y="205976"/>
            <a:ext cx="8229600" cy="857250"/>
          </a:xfrm>
          <a:prstGeom prst="rect">
            <a:avLst/>
          </a:prstGeom>
        </p:spPr>
        <p:txBody>
          <a:bodyPr vert="horz" lIns="90193" tIns="45096" rIns="90193" bIns="45096" rtlCol="0" anchor="ctr">
            <a:normAutofit/>
          </a:bodyPr>
          <a:lstStyle/>
          <a:p>
            <a:r>
              <a:rPr lang="en-US" dirty="0"/>
              <a:t>Click to edit Master title style</a:t>
            </a:r>
            <a:endParaRPr lang="en-IN" dirty="0"/>
          </a:p>
        </p:txBody>
      </p:sp>
      <p:sp>
        <p:nvSpPr>
          <p:cNvPr id="3" name="Text Placeholder 2"/>
          <p:cNvSpPr>
            <a:spLocks noGrp="1"/>
          </p:cNvSpPr>
          <p:nvPr>
            <p:ph type="body" idx="1"/>
          </p:nvPr>
        </p:nvSpPr>
        <p:spPr>
          <a:xfrm>
            <a:off x="457201" y="1200150"/>
            <a:ext cx="8229600" cy="3394474"/>
          </a:xfrm>
          <a:prstGeom prst="rect">
            <a:avLst/>
          </a:prstGeom>
        </p:spPr>
        <p:txBody>
          <a:bodyPr vert="horz" lIns="90193" tIns="45096" rIns="90193" bIns="4509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1" y="4767270"/>
            <a:ext cx="2133600" cy="273842"/>
          </a:xfrm>
          <a:prstGeom prst="rect">
            <a:avLst/>
          </a:prstGeom>
        </p:spPr>
        <p:txBody>
          <a:bodyPr vert="horz" lIns="90193" tIns="45096" rIns="90193" bIns="45096" rtlCol="0" anchor="ctr"/>
          <a:lstStyle>
            <a:lvl1pPr algn="l">
              <a:defRPr sz="1200">
                <a:solidFill>
                  <a:schemeClr val="tx1">
                    <a:tint val="75000"/>
                  </a:schemeClr>
                </a:solidFill>
              </a:defRPr>
            </a:lvl1pPr>
          </a:lstStyle>
          <a:p>
            <a:fld id="{89B07546-8172-4B72-BB0C-A9E4B707B43A}"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3"/>
          </p:nvPr>
        </p:nvSpPr>
        <p:spPr>
          <a:xfrm>
            <a:off x="3124201" y="4767270"/>
            <a:ext cx="2895600" cy="273842"/>
          </a:xfrm>
          <a:prstGeom prst="rect">
            <a:avLst/>
          </a:prstGeom>
        </p:spPr>
        <p:txBody>
          <a:bodyPr vert="horz" lIns="90193" tIns="45096" rIns="90193" bIns="45096" rtlCol="0" anchor="ctr"/>
          <a:lstStyle>
            <a:lvl1pPr algn="ctr">
              <a:defRPr sz="1200">
                <a:solidFill>
                  <a:schemeClr val="tx1">
                    <a:tint val="75000"/>
                  </a:schemeClr>
                </a:solidFill>
              </a:defRPr>
            </a:lvl1pPr>
          </a:lstStyle>
          <a:p>
            <a:r>
              <a:rPr lang="en-US">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6" name="Slide Number Placeholder 5"/>
          <p:cNvSpPr>
            <a:spLocks noGrp="1"/>
          </p:cNvSpPr>
          <p:nvPr>
            <p:ph type="sldNum" sz="quarter" idx="4"/>
          </p:nvPr>
        </p:nvSpPr>
        <p:spPr>
          <a:xfrm>
            <a:off x="6553201" y="4767270"/>
            <a:ext cx="2133600" cy="273842"/>
          </a:xfrm>
          <a:prstGeom prst="rect">
            <a:avLst/>
          </a:prstGeom>
        </p:spPr>
        <p:txBody>
          <a:bodyPr vert="horz" lIns="90193" tIns="45096" rIns="90193" bIns="45096" rtlCol="0" anchor="ctr"/>
          <a:lstStyle>
            <a:lvl1pPr algn="r">
              <a:defRPr sz="1200">
                <a:solidFill>
                  <a:schemeClr val="tx1">
                    <a:tint val="75000"/>
                  </a:schemeClr>
                </a:solidFill>
              </a:defRPr>
            </a:lvl1pPr>
          </a:lstStyle>
          <a:p>
            <a:fld id="{77DD58CB-5C75-4AB0-B097-2BE57FD99A99}"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xmlns="" val="33943269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01927" rtl="0" eaLnBrk="1" latinLnBrk="0" hangingPunct="1">
        <a:spcBef>
          <a:spcPct val="0"/>
        </a:spcBef>
        <a:buNone/>
        <a:defRPr sz="4300" kern="1200">
          <a:solidFill>
            <a:schemeClr val="tx1"/>
          </a:solidFill>
          <a:latin typeface="+mj-lt"/>
          <a:ea typeface="+mj-ea"/>
          <a:cs typeface="+mj-cs"/>
        </a:defRPr>
      </a:lvl1pPr>
    </p:titleStyle>
    <p:bodyStyle>
      <a:lvl1pPr marL="338223" indent="-338223" algn="l" defTabSz="901927" rtl="0" eaLnBrk="1" latinLnBrk="0" hangingPunct="1">
        <a:spcBef>
          <a:spcPct val="20000"/>
        </a:spcBef>
        <a:buFont typeface="Arial" panose="020B0604020202020204" pitchFamily="34" charset="0"/>
        <a:buChar char="•"/>
        <a:defRPr sz="3100" kern="1200">
          <a:solidFill>
            <a:schemeClr val="tx1"/>
          </a:solidFill>
          <a:latin typeface="+mn-lt"/>
          <a:ea typeface="+mn-ea"/>
          <a:cs typeface="+mn-cs"/>
        </a:defRPr>
      </a:lvl1pPr>
      <a:lvl2pPr marL="732815" indent="-281852" algn="l" defTabSz="901927"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2pPr>
      <a:lvl3pPr marL="1127410" indent="-225482" algn="l" defTabSz="901927" rtl="0" eaLnBrk="1" latinLnBrk="0" hangingPunct="1">
        <a:spcBef>
          <a:spcPct val="20000"/>
        </a:spcBef>
        <a:buFont typeface="Arial" panose="020B0604020202020204" pitchFamily="34" charset="0"/>
        <a:buChar char="•"/>
        <a:defRPr sz="2300" kern="1200">
          <a:solidFill>
            <a:schemeClr val="tx1"/>
          </a:solidFill>
          <a:latin typeface="+mn-lt"/>
          <a:ea typeface="+mn-ea"/>
          <a:cs typeface="+mn-cs"/>
        </a:defRPr>
      </a:lvl3pPr>
      <a:lvl4pPr marL="1578374" indent="-225482" algn="l" defTabSz="901927" rtl="0" eaLnBrk="1" latinLnBrk="0" hangingPunct="1">
        <a:spcBef>
          <a:spcPct val="20000"/>
        </a:spcBef>
        <a:buFont typeface="Arial" panose="020B0604020202020204" pitchFamily="34" charset="0"/>
        <a:buChar char="–"/>
        <a:defRPr sz="1900" kern="1200">
          <a:solidFill>
            <a:schemeClr val="tx1"/>
          </a:solidFill>
          <a:latin typeface="+mn-lt"/>
          <a:ea typeface="+mn-ea"/>
          <a:cs typeface="+mn-cs"/>
        </a:defRPr>
      </a:lvl4pPr>
      <a:lvl5pPr marL="2029337" indent="-225482" algn="l" defTabSz="901927" rtl="0" eaLnBrk="1" latinLnBrk="0" hangingPunct="1">
        <a:spcBef>
          <a:spcPct val="20000"/>
        </a:spcBef>
        <a:buFont typeface="Arial" panose="020B0604020202020204" pitchFamily="34" charset="0"/>
        <a:buChar char="»"/>
        <a:defRPr sz="1900" kern="1200">
          <a:solidFill>
            <a:schemeClr val="tx1"/>
          </a:solidFill>
          <a:latin typeface="+mn-lt"/>
          <a:ea typeface="+mn-ea"/>
          <a:cs typeface="+mn-cs"/>
        </a:defRPr>
      </a:lvl5pPr>
      <a:lvl6pPr marL="2480302" indent="-225482" algn="l" defTabSz="901927" rtl="0" eaLnBrk="1" latinLnBrk="0" hangingPunct="1">
        <a:spcBef>
          <a:spcPct val="20000"/>
        </a:spcBef>
        <a:buFont typeface="Arial" panose="020B0604020202020204" pitchFamily="34" charset="0"/>
        <a:buChar char="•"/>
        <a:defRPr sz="1900" kern="1200">
          <a:solidFill>
            <a:schemeClr val="tx1"/>
          </a:solidFill>
          <a:latin typeface="+mn-lt"/>
          <a:ea typeface="+mn-ea"/>
          <a:cs typeface="+mn-cs"/>
        </a:defRPr>
      </a:lvl6pPr>
      <a:lvl7pPr marL="2931265" indent="-225482" algn="l" defTabSz="901927" rtl="0" eaLnBrk="1" latinLnBrk="0" hangingPunct="1">
        <a:spcBef>
          <a:spcPct val="20000"/>
        </a:spcBef>
        <a:buFont typeface="Arial" panose="020B0604020202020204" pitchFamily="34" charset="0"/>
        <a:buChar char="•"/>
        <a:defRPr sz="1900" kern="1200">
          <a:solidFill>
            <a:schemeClr val="tx1"/>
          </a:solidFill>
          <a:latin typeface="+mn-lt"/>
          <a:ea typeface="+mn-ea"/>
          <a:cs typeface="+mn-cs"/>
        </a:defRPr>
      </a:lvl7pPr>
      <a:lvl8pPr marL="3382229" indent="-225482" algn="l" defTabSz="901927" rtl="0" eaLnBrk="1" latinLnBrk="0" hangingPunct="1">
        <a:spcBef>
          <a:spcPct val="20000"/>
        </a:spcBef>
        <a:buFont typeface="Arial" panose="020B0604020202020204" pitchFamily="34" charset="0"/>
        <a:buChar char="•"/>
        <a:defRPr sz="1900" kern="1200">
          <a:solidFill>
            <a:schemeClr val="tx1"/>
          </a:solidFill>
          <a:latin typeface="+mn-lt"/>
          <a:ea typeface="+mn-ea"/>
          <a:cs typeface="+mn-cs"/>
        </a:defRPr>
      </a:lvl8pPr>
      <a:lvl9pPr marL="3833194" indent="-225482" algn="l" defTabSz="901927" rtl="0" eaLnBrk="1" latinLnBrk="0" hangingPunct="1">
        <a:spcBef>
          <a:spcPct val="20000"/>
        </a:spcBef>
        <a:buFont typeface="Arial" panose="020B0604020202020204" pitchFamily="34" charset="0"/>
        <a:buChar char="•"/>
        <a:defRPr sz="1900" kern="1200">
          <a:solidFill>
            <a:schemeClr val="tx1"/>
          </a:solidFill>
          <a:latin typeface="+mn-lt"/>
          <a:ea typeface="+mn-ea"/>
          <a:cs typeface="+mn-cs"/>
        </a:defRPr>
      </a:lvl9pPr>
    </p:bodyStyle>
    <p:otherStyle>
      <a:defPPr>
        <a:defRPr lang="en-US"/>
      </a:defPPr>
      <a:lvl1pPr marL="0" algn="l" defTabSz="901927" rtl="0" eaLnBrk="1" latinLnBrk="0" hangingPunct="1">
        <a:defRPr sz="1700" kern="1200">
          <a:solidFill>
            <a:schemeClr val="tx1"/>
          </a:solidFill>
          <a:latin typeface="+mn-lt"/>
          <a:ea typeface="+mn-ea"/>
          <a:cs typeface="+mn-cs"/>
        </a:defRPr>
      </a:lvl1pPr>
      <a:lvl2pPr marL="450965" algn="l" defTabSz="901927" rtl="0" eaLnBrk="1" latinLnBrk="0" hangingPunct="1">
        <a:defRPr sz="1700" kern="1200">
          <a:solidFill>
            <a:schemeClr val="tx1"/>
          </a:solidFill>
          <a:latin typeface="+mn-lt"/>
          <a:ea typeface="+mn-ea"/>
          <a:cs typeface="+mn-cs"/>
        </a:defRPr>
      </a:lvl2pPr>
      <a:lvl3pPr marL="901927" algn="l" defTabSz="901927" rtl="0" eaLnBrk="1" latinLnBrk="0" hangingPunct="1">
        <a:defRPr sz="1700" kern="1200">
          <a:solidFill>
            <a:schemeClr val="tx1"/>
          </a:solidFill>
          <a:latin typeface="+mn-lt"/>
          <a:ea typeface="+mn-ea"/>
          <a:cs typeface="+mn-cs"/>
        </a:defRPr>
      </a:lvl3pPr>
      <a:lvl4pPr marL="1352892" algn="l" defTabSz="901927" rtl="0" eaLnBrk="1" latinLnBrk="0" hangingPunct="1">
        <a:defRPr sz="1700" kern="1200">
          <a:solidFill>
            <a:schemeClr val="tx1"/>
          </a:solidFill>
          <a:latin typeface="+mn-lt"/>
          <a:ea typeface="+mn-ea"/>
          <a:cs typeface="+mn-cs"/>
        </a:defRPr>
      </a:lvl4pPr>
      <a:lvl5pPr marL="1803857" algn="l" defTabSz="901927" rtl="0" eaLnBrk="1" latinLnBrk="0" hangingPunct="1">
        <a:defRPr sz="1700" kern="1200">
          <a:solidFill>
            <a:schemeClr val="tx1"/>
          </a:solidFill>
          <a:latin typeface="+mn-lt"/>
          <a:ea typeface="+mn-ea"/>
          <a:cs typeface="+mn-cs"/>
        </a:defRPr>
      </a:lvl5pPr>
      <a:lvl6pPr marL="2254820" algn="l" defTabSz="901927" rtl="0" eaLnBrk="1" latinLnBrk="0" hangingPunct="1">
        <a:defRPr sz="1700" kern="1200">
          <a:solidFill>
            <a:schemeClr val="tx1"/>
          </a:solidFill>
          <a:latin typeface="+mn-lt"/>
          <a:ea typeface="+mn-ea"/>
          <a:cs typeface="+mn-cs"/>
        </a:defRPr>
      </a:lvl6pPr>
      <a:lvl7pPr marL="2705784" algn="l" defTabSz="901927" rtl="0" eaLnBrk="1" latinLnBrk="0" hangingPunct="1">
        <a:defRPr sz="1700" kern="1200">
          <a:solidFill>
            <a:schemeClr val="tx1"/>
          </a:solidFill>
          <a:latin typeface="+mn-lt"/>
          <a:ea typeface="+mn-ea"/>
          <a:cs typeface="+mn-cs"/>
        </a:defRPr>
      </a:lvl7pPr>
      <a:lvl8pPr marL="3156747" algn="l" defTabSz="901927" rtl="0" eaLnBrk="1" latinLnBrk="0" hangingPunct="1">
        <a:defRPr sz="1700" kern="1200">
          <a:solidFill>
            <a:schemeClr val="tx1"/>
          </a:solidFill>
          <a:latin typeface="+mn-lt"/>
          <a:ea typeface="+mn-ea"/>
          <a:cs typeface="+mn-cs"/>
        </a:defRPr>
      </a:lvl8pPr>
      <a:lvl9pPr marL="3607712" algn="l" defTabSz="901927"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4.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5.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3.xml"/><Relationship Id="rId5" Type="http://schemas.openxmlformats.org/officeDocument/2006/relationships/image" Target="../media/image5.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5.xml"/><Relationship Id="rId5" Type="http://schemas.openxmlformats.org/officeDocument/2006/relationships/image" Target="../media/image5.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6.xml"/><Relationship Id="rId5" Type="http://schemas.openxmlformats.org/officeDocument/2006/relationships/image" Target="../media/image5.jpe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5.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5.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8.xml"/><Relationship Id="rId5" Type="http://schemas.openxmlformats.org/officeDocument/2006/relationships/image" Target="../media/image5.jpe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9.xml"/><Relationship Id="rId5" Type="http://schemas.openxmlformats.org/officeDocument/2006/relationships/image" Target="../media/image5.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5.jpe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5.jpe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0.xml"/><Relationship Id="rId5" Type="http://schemas.openxmlformats.org/officeDocument/2006/relationships/image" Target="../media/image5.jpe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5.jpeg"/><Relationship Id="rId5" Type="http://schemas.openxmlformats.org/officeDocument/2006/relationships/image" Target="../media/image3.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13.png"/><Relationship Id="rId5" Type="http://schemas.openxmlformats.org/officeDocument/2006/relationships/image" Target="../media/image5.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07504" y="491728"/>
            <a:ext cx="1242560" cy="106072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3"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779" y="187795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17D08059-BE5E-49EC-8DF4-8EEC7BCA5F86}"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IN">
                <a:solidFill>
                  <a:srgbClr val="000099"/>
                </a:solidFill>
              </a:rPr>
              <a:t>Computer Science and Engineering, Nehru Institute of Engineering and Technology</a:t>
            </a: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1</a:t>
            </a:fld>
            <a:endParaRPr lang="en-IN">
              <a:solidFill>
                <a:srgbClr val="000099"/>
              </a:solidFill>
            </a:endParaRPr>
          </a:p>
        </p:txBody>
      </p:sp>
      <p:sp>
        <p:nvSpPr>
          <p:cNvPr id="15" name="TextBox 14"/>
          <p:cNvSpPr txBox="1"/>
          <p:nvPr/>
        </p:nvSpPr>
        <p:spPr>
          <a:xfrm>
            <a:off x="35496" y="51470"/>
            <a:ext cx="9106887" cy="1908215"/>
          </a:xfrm>
          <a:prstGeom prst="rect">
            <a:avLst/>
          </a:prstGeom>
          <a:noFill/>
        </p:spPr>
        <p:txBody>
          <a:bodyPr wrap="square" rtlCol="0">
            <a:spAutoFit/>
          </a:bodyPr>
          <a:lstStyle/>
          <a:p>
            <a:pPr algn="ctr">
              <a:lnSpc>
                <a:spcPts val="2900"/>
              </a:lnSpc>
            </a:pPr>
            <a:r>
              <a:rPr lang="en-IN" sz="2800" b="1">
                <a:solidFill>
                  <a:srgbClr val="000066"/>
                </a:solidFill>
              </a:rPr>
              <a:t>NEHRU INSTITUTE OF ENGINEERING AND TECHNOLOGY</a:t>
            </a:r>
          </a:p>
          <a:p>
            <a:pPr algn="ctr">
              <a:lnSpc>
                <a:spcPts val="2900"/>
              </a:lnSpc>
            </a:pPr>
            <a:r>
              <a:rPr lang="en-IN" sz="2400" b="1">
                <a:solidFill>
                  <a:srgbClr val="000066"/>
                </a:solidFill>
              </a:rPr>
              <a:t>Thirumalayampalayam, Coimbatore - 641 105</a:t>
            </a:r>
          </a:p>
          <a:p>
            <a:pPr algn="ctr"/>
            <a:r>
              <a:rPr lang="en-IN" sz="1400" b="1">
                <a:solidFill>
                  <a:srgbClr val="000066"/>
                </a:solidFill>
              </a:rPr>
              <a:t>(Approved by AICTE, New Delhi and Affiliated to Anna University, Chennai)</a:t>
            </a:r>
          </a:p>
          <a:p>
            <a:pPr algn="ctr"/>
            <a:r>
              <a:rPr lang="en-IN" sz="1400" b="1" i="1">
                <a:solidFill>
                  <a:srgbClr val="000066"/>
                </a:solidFill>
              </a:rPr>
              <a:t>Accredited by NAAC with A+, Recognized by UGC with Section 2(f) and 12(B)</a:t>
            </a:r>
          </a:p>
          <a:p>
            <a:pPr algn="ctr"/>
            <a:r>
              <a:rPr lang="en-IN" sz="1400" b="1" i="1">
                <a:solidFill>
                  <a:srgbClr val="000066"/>
                </a:solidFill>
              </a:rPr>
              <a:t>NBA Accredited Programmes : AERO, CSE</a:t>
            </a:r>
          </a:p>
          <a:p>
            <a:pPr algn="ctr"/>
            <a:r>
              <a:rPr lang="en-IN" sz="2400" b="1">
                <a:solidFill>
                  <a:srgbClr val="000066"/>
                </a:solidFill>
              </a:rPr>
              <a:t>DEPARTMENT OF COMPUTER SCIENCE AND ENGINEERING</a:t>
            </a:r>
          </a:p>
        </p:txBody>
      </p:sp>
      <p:sp>
        <p:nvSpPr>
          <p:cNvPr id="11" name="TextBox 10"/>
          <p:cNvSpPr txBox="1"/>
          <p:nvPr/>
        </p:nvSpPr>
        <p:spPr>
          <a:xfrm>
            <a:off x="15701" y="1923678"/>
            <a:ext cx="9106887" cy="523220"/>
          </a:xfrm>
          <a:prstGeom prst="rect">
            <a:avLst/>
          </a:prstGeom>
          <a:noFill/>
        </p:spPr>
        <p:txBody>
          <a:bodyPr wrap="square" rtlCol="0">
            <a:spAutoFit/>
          </a:bodyPr>
          <a:lstStyle/>
          <a:p>
            <a:pPr algn="ctr"/>
            <a:r>
              <a:rPr lang="en-US" sz="2800" b="1" dirty="0" smtClean="0">
                <a:solidFill>
                  <a:srgbClr val="FF0000"/>
                </a:solidFill>
              </a:rPr>
              <a:t>Automatic Road Quality Detector</a:t>
            </a:r>
            <a:endParaRPr lang="en-IN" sz="2800" b="1" dirty="0">
              <a:solidFill>
                <a:srgbClr val="FF0000"/>
              </a:solidFill>
            </a:endParaRPr>
          </a:p>
        </p:txBody>
      </p:sp>
      <p:pic>
        <p:nvPicPr>
          <p:cNvPr id="2050" name="Picture 2"/>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8035562" y="438439"/>
            <a:ext cx="1067604" cy="113271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p:cNvSpPr txBox="1"/>
          <p:nvPr/>
        </p:nvSpPr>
        <p:spPr>
          <a:xfrm>
            <a:off x="120785" y="2945461"/>
            <a:ext cx="9106887" cy="1600438"/>
          </a:xfrm>
          <a:prstGeom prst="rect">
            <a:avLst/>
          </a:prstGeom>
          <a:noFill/>
        </p:spPr>
        <p:txBody>
          <a:bodyPr wrap="square" rtlCol="0">
            <a:spAutoFit/>
          </a:bodyPr>
          <a:lstStyle/>
          <a:p>
            <a:r>
              <a:rPr lang="en-IN" sz="2000" b="1" dirty="0">
                <a:solidFill>
                  <a:srgbClr val="006600"/>
                </a:solidFill>
              </a:rPr>
              <a:t>Batch Number	:      	                                     Internal Guide </a:t>
            </a:r>
            <a:r>
              <a:rPr lang="en-IN" sz="2000" b="1" dirty="0" smtClean="0">
                <a:solidFill>
                  <a:srgbClr val="006600"/>
                </a:solidFill>
              </a:rPr>
              <a:t>:</a:t>
            </a:r>
            <a:endParaRPr lang="en-IN" sz="1800" b="1" dirty="0">
              <a:solidFill>
                <a:srgbClr val="000066"/>
              </a:solidFill>
            </a:endParaRPr>
          </a:p>
          <a:p>
            <a:r>
              <a:rPr lang="en-IN" sz="1800" b="1" dirty="0">
                <a:solidFill>
                  <a:srgbClr val="000066"/>
                </a:solidFill>
              </a:rPr>
              <a:t>                                                                                                                             </a:t>
            </a:r>
            <a:r>
              <a:rPr lang="en-IN" sz="1800" b="1" dirty="0" smtClean="0">
                <a:solidFill>
                  <a:srgbClr val="000066"/>
                </a:solidFill>
              </a:rPr>
              <a:t>      </a:t>
            </a:r>
            <a:endParaRPr lang="en-IN" sz="1800" b="1" dirty="0">
              <a:solidFill>
                <a:srgbClr val="000066"/>
              </a:solidFill>
            </a:endParaRPr>
          </a:p>
          <a:p>
            <a:r>
              <a:rPr lang="en-IN" sz="2000" b="1" dirty="0">
                <a:solidFill>
                  <a:srgbClr val="006600"/>
                </a:solidFill>
              </a:rPr>
              <a:t>Batch Member &amp; Reg. No.: </a:t>
            </a:r>
          </a:p>
          <a:p>
            <a:r>
              <a:rPr lang="en-IN" sz="2000" b="1" dirty="0" smtClean="0">
                <a:solidFill>
                  <a:srgbClr val="006600"/>
                </a:solidFill>
              </a:rPr>
              <a:t>  </a:t>
            </a:r>
            <a:endParaRPr lang="en-IN" sz="2000" b="1" dirty="0">
              <a:solidFill>
                <a:srgbClr val="006600"/>
              </a:solidFill>
            </a:endParaRPr>
          </a:p>
          <a:p>
            <a:endParaRPr lang="en-IN" sz="2000" b="1" dirty="0">
              <a:solidFill>
                <a:srgbClr val="006600"/>
              </a:solidFill>
            </a:endParaRPr>
          </a:p>
        </p:txBody>
      </p:sp>
    </p:spTree>
    <p:custDataLst>
      <p:tags r:id="rId1"/>
    </p:custDataLst>
    <p:extLst>
      <p:ext uri="{BB962C8B-B14F-4D97-AF65-F5344CB8AC3E}">
        <p14:creationId xmlns:p14="http://schemas.microsoft.com/office/powerpoint/2010/main" xmlns="" val="795861506"/>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0" end="0"/>
                                            </p:txEl>
                                          </p:spTgt>
                                        </p:tgtEl>
                                        <p:attrNameLst>
                                          <p:attrName>style.visibility</p:attrName>
                                        </p:attrNameLst>
                                      </p:cBhvr>
                                      <p:to>
                                        <p:strVal val="visible"/>
                                      </p:to>
                                    </p:set>
                                    <p:anim calcmode="lin" valueType="num">
                                      <p:cBhvr additive="base">
                                        <p:cTn id="13"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anim calcmode="lin" valueType="num">
                                      <p:cBhvr additive="base">
                                        <p:cTn id="19"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2" end="2"/>
                                            </p:txEl>
                                          </p:spTgt>
                                        </p:tgtEl>
                                        <p:attrNameLst>
                                          <p:attrName>style.visibility</p:attrName>
                                        </p:attrNameLst>
                                      </p:cBhvr>
                                      <p:to>
                                        <p:strVal val="visible"/>
                                      </p:to>
                                    </p:set>
                                    <p:anim calcmode="lin" valueType="num">
                                      <p:cBhvr additive="base">
                                        <p:cTn id="25"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anim calcmode="lin" valueType="num">
                                      <p:cBhvr additive="base">
                                        <p:cTn id="31"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CD1F2DBF-D02F-4DA9-9F4B-126021FEFF8D}"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2</a:t>
            </a:fld>
            <a:endParaRPr lang="en-IN">
              <a:solidFill>
                <a:srgbClr val="000099"/>
              </a:solidFill>
            </a:endParaRPr>
          </a:p>
        </p:txBody>
      </p:sp>
      <p:sp>
        <p:nvSpPr>
          <p:cNvPr id="15" name="TextBox 14"/>
          <p:cNvSpPr txBox="1"/>
          <p:nvPr/>
        </p:nvSpPr>
        <p:spPr>
          <a:xfrm>
            <a:off x="107504" y="68722"/>
            <a:ext cx="8336668" cy="461665"/>
          </a:xfrm>
          <a:prstGeom prst="rect">
            <a:avLst/>
          </a:prstGeom>
          <a:noFill/>
        </p:spPr>
        <p:txBody>
          <a:bodyPr wrap="square" rtlCol="0">
            <a:spAutoFit/>
          </a:bodyPr>
          <a:lstStyle/>
          <a:p>
            <a:r>
              <a:rPr lang="en-US" sz="2400" b="1" dirty="0">
                <a:solidFill>
                  <a:srgbClr val="FF0000"/>
                </a:solidFill>
              </a:rPr>
              <a:t>Abstract</a:t>
            </a: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25642" y="590031"/>
            <a:ext cx="8712968" cy="3997944"/>
          </a:xfrm>
          <a:prstGeom prst="rect">
            <a:avLst/>
          </a:prstGeom>
        </p:spPr>
        <p:txBody>
          <a:bodyPr wrap="square" anchor="t" anchorCtr="0">
            <a:noAutofit/>
          </a:bodyPr>
          <a:lstStyle/>
          <a:p>
            <a:pPr algn="just"/>
            <a:r>
              <a:rPr lang="en-GB" sz="2000" dirty="0" smtClean="0"/>
              <a:t>Driving on smooth roads is something everyone enjoys and certainly provides for a much safer environment. Rough and jagged roads can be hazardous to those who drive on them, leading to the possibility of more accidents, and most significantly, more deaths. The condition of roadways can vary greatly within both urban and rural areas, and therefore, devices that can aid in quickly identifying hazardous roadways can be extremely valuable to engineers and government striving to increase the safety and quality of their metropolitan area. In this project, we propose an automatic road quality detector for road quality monitoring and logging. One advantage of this system is that it is designed for any type of vehicle, so it can be embedded with any vehicle on road. All the vehicles will be connected to a common cloud platform for uploading all the road information with the corresponding locations.</a:t>
            </a:r>
            <a:endParaRPr lang="en-GB" sz="2000" dirty="0"/>
          </a:p>
        </p:txBody>
      </p:sp>
    </p:spTree>
    <p:custDataLst>
      <p:tags r:id="rId1"/>
    </p:custDataLst>
    <p:extLst>
      <p:ext uri="{BB962C8B-B14F-4D97-AF65-F5344CB8AC3E}">
        <p14:creationId xmlns:p14="http://schemas.microsoft.com/office/powerpoint/2010/main" xmlns="" val="2888455869"/>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380578"/>
            <a:ext cx="8229600" cy="195486"/>
          </a:xfrm>
        </p:spPr>
        <p:txBody>
          <a:bodyPr>
            <a:normAutofit fontScale="90000"/>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AF2E464D-953D-4A98-8406-279920E8DCDF}" type="datetime1">
              <a:rPr lang="en-IN" smtClean="0">
                <a:solidFill>
                  <a:prstClr val="black">
                    <a:tint val="75000"/>
                  </a:prstClr>
                </a:solidFill>
              </a:rPr>
              <a:pPr/>
              <a:t>28-04-2023</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77DD58CB-5C75-4AB0-B097-2BE57FD99A99}" type="slidenum">
              <a:rPr lang="en-IN" smtClean="0">
                <a:solidFill>
                  <a:prstClr val="black">
                    <a:tint val="75000"/>
                  </a:prstClr>
                </a:solidFill>
              </a:rPr>
              <a:pPr/>
              <a:t>3</a:t>
            </a:fld>
            <a:endParaRPr lang="en-IN">
              <a:solidFill>
                <a:prstClr val="black">
                  <a:tint val="75000"/>
                </a:prstClr>
              </a:solidFill>
            </a:endParaRPr>
          </a:p>
        </p:txBody>
      </p:sp>
      <p:pic>
        <p:nvPicPr>
          <p:cNvPr id="7"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9"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0"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CD1F2DBF-D02F-4DA9-9F4B-126021FEFF8D}"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1"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2"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3" name="TextBox 12"/>
          <p:cNvSpPr txBox="1"/>
          <p:nvPr/>
        </p:nvSpPr>
        <p:spPr>
          <a:xfrm>
            <a:off x="107504" y="68722"/>
            <a:ext cx="8336668" cy="461665"/>
          </a:xfrm>
          <a:prstGeom prst="rect">
            <a:avLst/>
          </a:prstGeom>
          <a:noFill/>
        </p:spPr>
        <p:txBody>
          <a:bodyPr wrap="square" rtlCol="0">
            <a:spAutoFit/>
          </a:bodyPr>
          <a:lstStyle/>
          <a:p>
            <a:r>
              <a:rPr lang="en-IN" sz="2400" b="1" dirty="0" smtClean="0">
                <a:solidFill>
                  <a:srgbClr val="FF0000"/>
                </a:solidFill>
              </a:rPr>
              <a:t>Introduction</a:t>
            </a:r>
            <a:endParaRPr lang="en-US" sz="2400" b="1" dirty="0">
              <a:solidFill>
                <a:srgbClr val="FF0000"/>
              </a:solidFill>
            </a:endParaRPr>
          </a:p>
        </p:txBody>
      </p:sp>
      <p:pic>
        <p:nvPicPr>
          <p:cNvPr id="14"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5" name="Rectangle 14"/>
          <p:cNvSpPr/>
          <p:nvPr/>
        </p:nvSpPr>
        <p:spPr>
          <a:xfrm>
            <a:off x="225642" y="590031"/>
            <a:ext cx="8712968" cy="3997944"/>
          </a:xfrm>
          <a:prstGeom prst="rect">
            <a:avLst/>
          </a:prstGeom>
        </p:spPr>
        <p:txBody>
          <a:bodyPr wrap="square" anchor="t" anchorCtr="0">
            <a:noAutofit/>
          </a:bodyPr>
          <a:lstStyle/>
          <a:p>
            <a:pPr algn="just"/>
            <a:r>
              <a:rPr lang="en-GB" sz="1800" dirty="0" smtClean="0"/>
              <a:t>This </a:t>
            </a:r>
            <a:r>
              <a:rPr lang="en-GB" sz="1800" dirty="0" err="1" smtClean="0"/>
              <a:t>IoT</a:t>
            </a:r>
            <a:r>
              <a:rPr lang="en-GB" sz="1800" dirty="0" smtClean="0"/>
              <a:t> device consists of a NODE MCU, Inertial Measurement Unit , a GPS module, and an Sensor modules. When mounted to the user's car or truck, the device can detect spikes in the acceleration of the vehicle. While sensing, the device will store the locations of hazardous road conditions in its EEPROM memory, which it can later read from and upload to a database. It will attempt to connect to its Wi-Fi network where a computer will be running a Python script that accepts binary data from the module. The binary data consists of the device's identifier and all of the sensor readings the device has measured in the past trips that have not been uploaded yet. The running of the Python script removes the operational overhead from the module, allowing for the fastest possible relaying of data to the database. While this prototype </a:t>
            </a:r>
            <a:r>
              <a:rPr lang="en-GB" sz="1800" dirty="0" err="1" smtClean="0"/>
              <a:t>IoT</a:t>
            </a:r>
            <a:r>
              <a:rPr lang="en-GB" sz="1800" dirty="0" smtClean="0"/>
              <a:t> device is simple, its capability to successfully and automatically identify hazardous road conditions could enable it to reduce the number of road-related crashes and deaths. Giving city maintenance engineers, and construction companies access to the locations of hazardous roads has the capacity to save thousands of lives all around the world</a:t>
            </a:r>
            <a:endParaRPr lang="en-GB" sz="1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201991ED-68C9-4C45-B351-28AC63143341}"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4</a:t>
            </a:fld>
            <a:endParaRPr lang="en-IN">
              <a:solidFill>
                <a:srgbClr val="000099"/>
              </a:solidFill>
            </a:endParaRPr>
          </a:p>
        </p:txBody>
      </p:sp>
      <p:sp>
        <p:nvSpPr>
          <p:cNvPr id="15" name="TextBox 14"/>
          <p:cNvSpPr txBox="1"/>
          <p:nvPr/>
        </p:nvSpPr>
        <p:spPr>
          <a:xfrm>
            <a:off x="107504" y="68722"/>
            <a:ext cx="8336668" cy="461665"/>
          </a:xfrm>
          <a:prstGeom prst="rect">
            <a:avLst/>
          </a:prstGeom>
          <a:noFill/>
        </p:spPr>
        <p:txBody>
          <a:bodyPr wrap="square" rtlCol="0">
            <a:spAutoFit/>
          </a:bodyPr>
          <a:lstStyle/>
          <a:p>
            <a:r>
              <a:rPr lang="en-US" sz="2400" b="1">
                <a:solidFill>
                  <a:srgbClr val="FF0000"/>
                </a:solidFill>
              </a:rPr>
              <a:t>Objective(s)</a:t>
            </a: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25642" y="503770"/>
            <a:ext cx="8712968" cy="4231697"/>
          </a:xfrm>
          <a:prstGeom prst="rect">
            <a:avLst/>
          </a:prstGeom>
        </p:spPr>
        <p:txBody>
          <a:bodyPr wrap="square" anchor="t" anchorCtr="0">
            <a:noAutofit/>
          </a:bodyPr>
          <a:lstStyle/>
          <a:p>
            <a:pPr marL="342900" indent="-342900" algn="just">
              <a:buFont typeface="Wingdings" pitchFamily="2" charset="2"/>
              <a:buChar char="Ø"/>
            </a:pPr>
            <a:endParaRPr lang="en-GB" sz="2400" dirty="0" smtClean="0"/>
          </a:p>
          <a:p>
            <a:pPr marL="342900" indent="-342900" algn="just">
              <a:buFont typeface="Wingdings" pitchFamily="2" charset="2"/>
              <a:buChar char="Ø"/>
            </a:pPr>
            <a:r>
              <a:rPr lang="en-GB" sz="2400" dirty="0" smtClean="0"/>
              <a:t>The goal of this project is to develop a prototype capable of aiding in the solving of one of the major problems in urban, suburban, and rural areas.</a:t>
            </a:r>
          </a:p>
          <a:p>
            <a:pPr marL="342900" indent="-342900" algn="just">
              <a:buFont typeface="Wingdings" pitchFamily="2" charset="2"/>
              <a:buChar char="Ø"/>
            </a:pPr>
            <a:endParaRPr lang="en-IN" sz="2400" dirty="0"/>
          </a:p>
          <a:p>
            <a:pPr marL="342900" indent="-342900" algn="just">
              <a:buFont typeface="Wingdings" pitchFamily="2" charset="2"/>
              <a:buChar char="Ø"/>
            </a:pPr>
            <a:r>
              <a:rPr lang="en-GB" sz="2400" dirty="0" smtClean="0"/>
              <a:t>To design and implement a system to monitor road quality using data from all vehicles.</a:t>
            </a:r>
          </a:p>
          <a:p>
            <a:pPr marL="342900" indent="-342900" algn="just">
              <a:buFont typeface="Wingdings" pitchFamily="2" charset="2"/>
              <a:buChar char="Ø"/>
            </a:pPr>
            <a:endParaRPr lang="en-GB" sz="2400" dirty="0" smtClean="0"/>
          </a:p>
          <a:p>
            <a:pPr marL="342900" indent="-342900" algn="just">
              <a:buFont typeface="Wingdings" pitchFamily="2" charset="2"/>
              <a:buChar char="Ø"/>
            </a:pPr>
            <a:r>
              <a:rPr lang="en-IN" sz="2400" dirty="0" smtClean="0">
                <a:cs typeface="Times New Roman" pitchFamily="18" charset="0"/>
              </a:rPr>
              <a:t>To obtain improved and uniform standard of road construction.</a:t>
            </a:r>
          </a:p>
          <a:p>
            <a:pPr marL="342900" indent="-342900" algn="just">
              <a:buFont typeface="Wingdings" pitchFamily="2" charset="2"/>
              <a:buChar char="Ø"/>
            </a:pPr>
            <a:endParaRPr lang="en-IN" sz="2400" dirty="0" smtClean="0">
              <a:cs typeface="Times New Roman" pitchFamily="18" charset="0"/>
            </a:endParaRPr>
          </a:p>
          <a:p>
            <a:pPr marL="342900" indent="-342900" algn="just">
              <a:buFont typeface="Wingdings" pitchFamily="2" charset="2"/>
              <a:buChar char="Ø"/>
            </a:pPr>
            <a:r>
              <a:rPr lang="en-IN" sz="2400" dirty="0" smtClean="0">
                <a:cs typeface="Times New Roman" pitchFamily="18" charset="0"/>
              </a:rPr>
              <a:t>To minimizing the cost of quality control.</a:t>
            </a:r>
            <a:endParaRPr lang="en-IN" sz="2400" dirty="0">
              <a:cs typeface="Times New Roman" pitchFamily="18" charset="0"/>
            </a:endParaRPr>
          </a:p>
        </p:txBody>
      </p:sp>
    </p:spTree>
    <p:custDataLst>
      <p:tags r:id="rId1"/>
    </p:custDataLst>
    <p:extLst>
      <p:ext uri="{BB962C8B-B14F-4D97-AF65-F5344CB8AC3E}">
        <p14:creationId xmlns:p14="http://schemas.microsoft.com/office/powerpoint/2010/main" xmlns="" val="4037166608"/>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4448482A-014D-4D40-A547-58D934A6D29F}"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5</a:t>
            </a:fld>
            <a:endParaRPr lang="en-IN">
              <a:solidFill>
                <a:srgbClr val="000099"/>
              </a:solidFill>
            </a:endParaRPr>
          </a:p>
        </p:txBody>
      </p:sp>
      <p:sp>
        <p:nvSpPr>
          <p:cNvPr id="15" name="TextBox 14"/>
          <p:cNvSpPr txBox="1"/>
          <p:nvPr/>
        </p:nvSpPr>
        <p:spPr>
          <a:xfrm>
            <a:off x="107504" y="68722"/>
            <a:ext cx="8336668" cy="461665"/>
          </a:xfrm>
          <a:prstGeom prst="rect">
            <a:avLst/>
          </a:prstGeom>
          <a:noFill/>
        </p:spPr>
        <p:txBody>
          <a:bodyPr wrap="square" rtlCol="0">
            <a:spAutoFit/>
          </a:bodyPr>
          <a:lstStyle/>
          <a:p>
            <a:r>
              <a:rPr lang="en-US" sz="2400" b="1" dirty="0">
                <a:solidFill>
                  <a:srgbClr val="FF0000"/>
                </a:solidFill>
              </a:rPr>
              <a:t>Existing System and </a:t>
            </a:r>
            <a:r>
              <a:rPr lang="en-US" sz="2400" b="1" dirty="0" smtClean="0">
                <a:solidFill>
                  <a:srgbClr val="FF0000"/>
                </a:solidFill>
              </a:rPr>
              <a:t>Limitations</a:t>
            </a:r>
            <a:endParaRPr lang="en-US" sz="2400" b="1" dirty="0">
              <a:solidFill>
                <a:srgbClr val="FF0000"/>
              </a:solidFill>
            </a:endParaRPr>
          </a:p>
        </p:txBody>
      </p:sp>
      <p:pic>
        <p:nvPicPr>
          <p:cNvPr id="16" name="Picture 5"/>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07504" y="586491"/>
            <a:ext cx="8992374" cy="4231697"/>
          </a:xfrm>
          <a:prstGeom prst="rect">
            <a:avLst/>
          </a:prstGeom>
        </p:spPr>
        <p:txBody>
          <a:bodyPr wrap="square" anchor="t" anchorCtr="0">
            <a:noAutofit/>
          </a:bodyPr>
          <a:lstStyle/>
          <a:p>
            <a:pPr lvl="0" algn="just" defTabSz="457200" fontAlgn="base">
              <a:spcBef>
                <a:spcPts val="400"/>
              </a:spcBef>
              <a:spcAft>
                <a:spcPct val="0"/>
              </a:spcAft>
              <a:buClr>
                <a:srgbClr val="C00000"/>
              </a:buClr>
              <a:buSzPct val="135000"/>
            </a:pPr>
            <a:endParaRPr lang="en-IN" sz="2000" b="1" dirty="0" smtClean="0">
              <a:solidFill>
                <a:srgbClr val="C00000"/>
              </a:solidFill>
              <a:latin typeface="Verdana"/>
              <a:ea typeface="ＭＳ Ｐゴシック" charset="0"/>
            </a:endParaRPr>
          </a:p>
          <a:p>
            <a:pPr lvl="0" algn="just" defTabSz="457200" fontAlgn="base">
              <a:spcBef>
                <a:spcPts val="400"/>
              </a:spcBef>
              <a:spcAft>
                <a:spcPct val="0"/>
              </a:spcAft>
              <a:buClr>
                <a:srgbClr val="C00000"/>
              </a:buClr>
              <a:buSzPct val="135000"/>
            </a:pPr>
            <a:r>
              <a:rPr lang="en-IN" sz="2000" b="1" dirty="0" smtClean="0">
                <a:solidFill>
                  <a:srgbClr val="C00000"/>
                </a:solidFill>
                <a:latin typeface="Verdana"/>
                <a:ea typeface="ＭＳ Ｐゴシック" charset="0"/>
              </a:rPr>
              <a:t>Existing System</a:t>
            </a:r>
            <a:endParaRPr lang="en-IN" sz="2000" b="1" dirty="0">
              <a:solidFill>
                <a:srgbClr val="C00000"/>
              </a:solidFill>
              <a:latin typeface="Verdana"/>
              <a:ea typeface="ＭＳ Ｐゴシック" charset="0"/>
            </a:endParaRPr>
          </a:p>
          <a:p>
            <a:pPr lvl="0" defTabSz="457200" fontAlgn="base">
              <a:spcBef>
                <a:spcPts val="400"/>
              </a:spcBef>
              <a:spcAft>
                <a:spcPct val="0"/>
              </a:spcAft>
              <a:buClr>
                <a:srgbClr val="C00000"/>
              </a:buClr>
              <a:buSzPct val="135000"/>
            </a:pPr>
            <a:endParaRPr lang="en-US" sz="2400" dirty="0"/>
          </a:p>
          <a:p>
            <a:pPr algn="just">
              <a:buFont typeface="Wingdings" pitchFamily="2" charset="2"/>
              <a:buChar char="Ø"/>
            </a:pPr>
            <a:r>
              <a:rPr lang="en-GB" sz="2400" dirty="0" smtClean="0"/>
              <a:t>Direct observation method it means the staff directly relies on their own quality control experience to detect the actual construction quality of roads.</a:t>
            </a:r>
          </a:p>
          <a:p>
            <a:pPr algn="just">
              <a:buFont typeface="Wingdings" pitchFamily="2" charset="2"/>
              <a:buChar char="Ø"/>
            </a:pPr>
            <a:endParaRPr lang="en-GB" sz="2400" dirty="0" smtClean="0"/>
          </a:p>
          <a:p>
            <a:pPr algn="just">
              <a:buFont typeface="Wingdings" pitchFamily="2" charset="2"/>
              <a:buChar char="Ø"/>
            </a:pPr>
            <a:r>
              <a:rPr lang="en-GB" sz="2400" dirty="0" smtClean="0"/>
              <a:t>Recognizing the road quality using high resolution satellite imagery.</a:t>
            </a:r>
          </a:p>
          <a:p>
            <a:pPr algn="just">
              <a:buFont typeface="Wingdings" pitchFamily="2" charset="2"/>
              <a:buChar char="Ø"/>
            </a:pPr>
            <a:endParaRPr lang="en-GB" sz="2400" dirty="0"/>
          </a:p>
        </p:txBody>
      </p:sp>
    </p:spTree>
    <p:custDataLst>
      <p:tags r:id="rId1"/>
    </p:custDataLst>
    <p:extLst>
      <p:ext uri="{BB962C8B-B14F-4D97-AF65-F5344CB8AC3E}">
        <p14:creationId xmlns:p14="http://schemas.microsoft.com/office/powerpoint/2010/main" xmlns="" val="4037166608"/>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E0F8415E-A5E0-4F9E-8D09-5BBEEBF642FC}"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6</a:t>
            </a:fld>
            <a:endParaRPr lang="en-IN">
              <a:solidFill>
                <a:srgbClr val="000099"/>
              </a:solidFill>
            </a:endParaRPr>
          </a:p>
        </p:txBody>
      </p:sp>
      <p:sp>
        <p:nvSpPr>
          <p:cNvPr id="15" name="TextBox 14"/>
          <p:cNvSpPr txBox="1"/>
          <p:nvPr/>
        </p:nvSpPr>
        <p:spPr>
          <a:xfrm>
            <a:off x="107504" y="68722"/>
            <a:ext cx="8336668" cy="461665"/>
          </a:xfrm>
          <a:prstGeom prst="rect">
            <a:avLst/>
          </a:prstGeom>
          <a:noFill/>
        </p:spPr>
        <p:txBody>
          <a:bodyPr wrap="square" rtlCol="0">
            <a:spAutoFit/>
          </a:bodyPr>
          <a:lstStyle/>
          <a:p>
            <a:r>
              <a:rPr lang="en-US" sz="2400" b="1" dirty="0">
                <a:solidFill>
                  <a:srgbClr val="FF0000"/>
                </a:solidFill>
              </a:rPr>
              <a:t>Existing System and </a:t>
            </a:r>
            <a:r>
              <a:rPr lang="en-US" sz="2400" b="1" dirty="0" smtClean="0">
                <a:solidFill>
                  <a:srgbClr val="FF0000"/>
                </a:solidFill>
              </a:rPr>
              <a:t>Limitations</a:t>
            </a:r>
            <a:endParaRPr lang="en-US" sz="2400" b="1" dirty="0">
              <a:solidFill>
                <a:srgbClr val="FF0000"/>
              </a:solidFill>
            </a:endParaRP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07504" y="590030"/>
            <a:ext cx="8992374" cy="4231697"/>
          </a:xfrm>
          <a:prstGeom prst="rect">
            <a:avLst/>
          </a:prstGeom>
        </p:spPr>
        <p:txBody>
          <a:bodyPr wrap="square" anchor="t" anchorCtr="0">
            <a:noAutofit/>
          </a:bodyPr>
          <a:lstStyle/>
          <a:p>
            <a:pPr lvl="0" algn="just" defTabSz="457200" fontAlgn="base">
              <a:spcBef>
                <a:spcPts val="400"/>
              </a:spcBef>
              <a:spcAft>
                <a:spcPct val="0"/>
              </a:spcAft>
              <a:buClr>
                <a:srgbClr val="C00000"/>
              </a:buClr>
              <a:buSzPct val="135000"/>
            </a:pPr>
            <a:r>
              <a:rPr lang="en-US" sz="2000" dirty="0"/>
              <a:t> </a:t>
            </a:r>
          </a:p>
          <a:p>
            <a:r>
              <a:rPr lang="en-IN" sz="2400" b="1" dirty="0" smtClean="0">
                <a:solidFill>
                  <a:srgbClr val="FF0000"/>
                </a:solidFill>
              </a:rPr>
              <a:t>Limitations</a:t>
            </a:r>
            <a:endParaRPr lang="en-IN" sz="2400" b="1" dirty="0">
              <a:solidFill>
                <a:srgbClr val="FF0000"/>
              </a:solidFill>
            </a:endParaRPr>
          </a:p>
          <a:p>
            <a:endParaRPr lang="en-IN" sz="2000" dirty="0"/>
          </a:p>
          <a:p>
            <a:pPr marL="342900" indent="-342900" algn="just">
              <a:buFont typeface="Wingdings" pitchFamily="2" charset="2"/>
              <a:buChar char="Ø"/>
            </a:pPr>
            <a:r>
              <a:rPr lang="en-IN" sz="2400" dirty="0" smtClean="0"/>
              <a:t>In road quality detection using satellite image was not efficient and accurate and also it depends on the climate, quality and quantity of data available .</a:t>
            </a:r>
          </a:p>
          <a:p>
            <a:pPr marL="342900" indent="-342900" algn="just">
              <a:buFont typeface="Wingdings" pitchFamily="2" charset="2"/>
              <a:buChar char="Ø"/>
            </a:pPr>
            <a:r>
              <a:rPr lang="en-IN" sz="2400" dirty="0" smtClean="0"/>
              <a:t>Direct observation method is not cost efficient. It cost 2 to 5 percent of total construction cost every year.</a:t>
            </a:r>
            <a:endParaRPr lang="en-US" sz="2400" dirty="0"/>
          </a:p>
          <a:p>
            <a:pPr marL="342900" indent="-342900" algn="just">
              <a:buFont typeface="Wingdings" pitchFamily="2" charset="2"/>
              <a:buChar char="Ø"/>
            </a:pPr>
            <a:r>
              <a:rPr lang="en-US" sz="2400" dirty="0" smtClean="0"/>
              <a:t>In the existing system the accuracy is less and these solutions come with a high cost, closed source code, excessive human analyst.</a:t>
            </a:r>
          </a:p>
          <a:p>
            <a:pPr marL="342900" indent="-342900" algn="just"/>
            <a:endParaRPr lang="en-IN" sz="2400" dirty="0"/>
          </a:p>
          <a:p>
            <a:endParaRPr lang="en-IN" sz="2000" b="1" dirty="0"/>
          </a:p>
          <a:p>
            <a:r>
              <a:rPr lang="en-IN" sz="2000" b="1" dirty="0"/>
              <a:t> </a:t>
            </a:r>
            <a:endParaRPr lang="en-IN" sz="2000" dirty="0"/>
          </a:p>
        </p:txBody>
      </p:sp>
    </p:spTree>
    <p:custDataLst>
      <p:tags r:id="rId1"/>
    </p:custDataLst>
    <p:extLst>
      <p:ext uri="{BB962C8B-B14F-4D97-AF65-F5344CB8AC3E}">
        <p14:creationId xmlns:p14="http://schemas.microsoft.com/office/powerpoint/2010/main" xmlns="" val="3620433583"/>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8318DB55-CE45-4E20-8962-861BF626458E}"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7</a:t>
            </a:fld>
            <a:endParaRPr lang="en-IN">
              <a:solidFill>
                <a:srgbClr val="000099"/>
              </a:solidFill>
            </a:endParaRPr>
          </a:p>
        </p:txBody>
      </p:sp>
      <p:sp>
        <p:nvSpPr>
          <p:cNvPr id="15" name="TextBox 14"/>
          <p:cNvSpPr txBox="1"/>
          <p:nvPr/>
        </p:nvSpPr>
        <p:spPr>
          <a:xfrm>
            <a:off x="107504" y="68722"/>
            <a:ext cx="8336668" cy="461665"/>
          </a:xfrm>
          <a:prstGeom prst="rect">
            <a:avLst/>
          </a:prstGeom>
          <a:noFill/>
        </p:spPr>
        <p:txBody>
          <a:bodyPr wrap="square" rtlCol="0">
            <a:spAutoFit/>
          </a:bodyPr>
          <a:lstStyle/>
          <a:p>
            <a:r>
              <a:rPr lang="en-US" sz="2400" b="1" dirty="0">
                <a:solidFill>
                  <a:srgbClr val="FF0000"/>
                </a:solidFill>
              </a:rPr>
              <a:t>Proposed </a:t>
            </a:r>
            <a:r>
              <a:rPr lang="en-US" sz="2400" b="1" dirty="0" smtClean="0">
                <a:solidFill>
                  <a:srgbClr val="FF0000"/>
                </a:solidFill>
              </a:rPr>
              <a:t>System and Advantages </a:t>
            </a:r>
            <a:endParaRPr lang="en-US" sz="2400" b="1" dirty="0">
              <a:solidFill>
                <a:srgbClr val="FF0000"/>
              </a:solidFill>
            </a:endParaRP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07504" y="590031"/>
            <a:ext cx="8928992" cy="3997944"/>
          </a:xfrm>
          <a:prstGeom prst="rect">
            <a:avLst/>
          </a:prstGeom>
        </p:spPr>
        <p:txBody>
          <a:bodyPr wrap="square" anchor="t" anchorCtr="0">
            <a:noAutofit/>
          </a:bodyPr>
          <a:lstStyle/>
          <a:p>
            <a:pPr algn="just" defTabSz="457200" fontAlgn="base">
              <a:spcBef>
                <a:spcPts val="400"/>
              </a:spcBef>
              <a:spcAft>
                <a:spcPct val="0"/>
              </a:spcAft>
              <a:buClr>
                <a:srgbClr val="C00000"/>
              </a:buClr>
              <a:buSzPct val="135000"/>
            </a:pPr>
            <a:r>
              <a:rPr lang="en-IN" sz="2000" b="1" dirty="0">
                <a:solidFill>
                  <a:srgbClr val="C00000"/>
                </a:solidFill>
                <a:latin typeface="Verdana"/>
                <a:ea typeface="ＭＳ Ｐゴシック" charset="0"/>
              </a:rPr>
              <a:t>Proposed </a:t>
            </a:r>
            <a:r>
              <a:rPr lang="en-IN" sz="2000" b="1" dirty="0" smtClean="0">
                <a:solidFill>
                  <a:srgbClr val="C00000"/>
                </a:solidFill>
                <a:latin typeface="Verdana"/>
                <a:ea typeface="ＭＳ Ｐゴシック" charset="0"/>
              </a:rPr>
              <a:t>System</a:t>
            </a:r>
            <a:endParaRPr lang="en-IN" sz="2000" b="1" dirty="0">
              <a:solidFill>
                <a:srgbClr val="C00000"/>
              </a:solidFill>
              <a:latin typeface="Verdana"/>
              <a:ea typeface="ＭＳ Ｐゴシック" charset="0"/>
            </a:endParaRPr>
          </a:p>
          <a:p>
            <a:pPr marL="342900" indent="-342900" algn="just" defTabSz="457200" fontAlgn="base">
              <a:spcBef>
                <a:spcPts val="400"/>
              </a:spcBef>
              <a:spcAft>
                <a:spcPct val="0"/>
              </a:spcAft>
              <a:buClr>
                <a:schemeClr val="tx1"/>
              </a:buClr>
              <a:buSzPct val="135000"/>
              <a:buFont typeface="Wingdings" pitchFamily="2" charset="2"/>
              <a:buChar char="Ø"/>
            </a:pPr>
            <a:r>
              <a:rPr lang="en-IN" sz="2400" dirty="0">
                <a:ea typeface="ＭＳ Ｐゴシック" charset="0"/>
              </a:rPr>
              <a:t> </a:t>
            </a:r>
            <a:r>
              <a:rPr lang="en-GB" sz="2000" dirty="0" smtClean="0"/>
              <a:t>This system is designed for automatic road quality monitoring and logging. This system can be embedded in any vehicle on road. </a:t>
            </a:r>
          </a:p>
          <a:p>
            <a:pPr marL="342900" indent="-342900" algn="just" defTabSz="457200" fontAlgn="base">
              <a:spcBef>
                <a:spcPts val="400"/>
              </a:spcBef>
              <a:spcAft>
                <a:spcPct val="0"/>
              </a:spcAft>
              <a:buClr>
                <a:schemeClr val="tx1"/>
              </a:buClr>
              <a:buSzPct val="135000"/>
              <a:buFont typeface="Wingdings" pitchFamily="2" charset="2"/>
              <a:buChar char="Ø"/>
            </a:pPr>
            <a:r>
              <a:rPr lang="en-GB" sz="2000" dirty="0" smtClean="0"/>
              <a:t>we use different kinds of smart sensors for detecting anomalies on the road, such as an accelerometer sensor for detecting bumps and gutters on the roads by calculating the linear acceleration of the vehicle, if any anomaly is detected then the location of the vehicle is noted using GPS module embedded with the system. This data is uploaded to a cloud for creating a map based on which maintenance can be done.</a:t>
            </a:r>
          </a:p>
          <a:p>
            <a:pPr marL="342900" indent="-342900" algn="just" defTabSz="457200" fontAlgn="base">
              <a:spcBef>
                <a:spcPts val="400"/>
              </a:spcBef>
              <a:spcAft>
                <a:spcPct val="0"/>
              </a:spcAft>
              <a:buClr>
                <a:schemeClr val="tx1"/>
              </a:buClr>
              <a:buSzPct val="135000"/>
            </a:pPr>
            <a:r>
              <a:rPr lang="en-GB" sz="2000" b="1" dirty="0" smtClean="0">
                <a:solidFill>
                  <a:srgbClr val="FF0000"/>
                </a:solidFill>
                <a:ea typeface="ＭＳ Ｐゴシック" charset="0"/>
              </a:rPr>
              <a:t>Advantages</a:t>
            </a:r>
          </a:p>
          <a:p>
            <a:pPr marL="342900" indent="-342900" algn="just" defTabSz="457200" fontAlgn="base">
              <a:spcBef>
                <a:spcPts val="400"/>
              </a:spcBef>
              <a:spcAft>
                <a:spcPct val="0"/>
              </a:spcAft>
              <a:buClr>
                <a:schemeClr val="tx1"/>
              </a:buClr>
              <a:buSzPct val="135000"/>
              <a:buFont typeface="Wingdings" pitchFamily="2" charset="2"/>
              <a:buChar char="Ø"/>
            </a:pPr>
            <a:r>
              <a:rPr lang="en-GB" sz="2000" dirty="0" smtClean="0"/>
              <a:t>In proposed system accuracy and efficiency is high and also comes with low cost.</a:t>
            </a:r>
          </a:p>
          <a:p>
            <a:pPr marL="342900" indent="-342900" algn="just" defTabSz="457200" fontAlgn="base">
              <a:spcBef>
                <a:spcPts val="400"/>
              </a:spcBef>
              <a:spcAft>
                <a:spcPct val="0"/>
              </a:spcAft>
              <a:buClr>
                <a:schemeClr val="tx1"/>
              </a:buClr>
              <a:buSzPct val="135000"/>
              <a:buFont typeface="Wingdings" pitchFamily="2" charset="2"/>
              <a:buChar char="Ø"/>
            </a:pPr>
            <a:r>
              <a:rPr lang="en-GB" sz="2000" dirty="0" smtClean="0"/>
              <a:t>Time and Cost Management.</a:t>
            </a:r>
          </a:p>
          <a:p>
            <a:pPr marL="342900" indent="-342900" algn="just" defTabSz="457200" fontAlgn="base">
              <a:spcBef>
                <a:spcPts val="400"/>
              </a:spcBef>
              <a:spcAft>
                <a:spcPct val="0"/>
              </a:spcAft>
              <a:buClr>
                <a:schemeClr val="tx1"/>
              </a:buClr>
              <a:buSzPct val="135000"/>
            </a:pPr>
            <a:endParaRPr lang="en-GB" sz="2000" b="1" dirty="0" smtClean="0">
              <a:solidFill>
                <a:srgbClr val="FF0000"/>
              </a:solidFill>
              <a:ea typeface="ＭＳ Ｐゴシック" charset="0"/>
            </a:endParaRPr>
          </a:p>
          <a:p>
            <a:pPr marL="342900" indent="-342900" algn="just" defTabSz="457200" fontAlgn="base">
              <a:spcBef>
                <a:spcPts val="400"/>
              </a:spcBef>
              <a:spcAft>
                <a:spcPct val="0"/>
              </a:spcAft>
              <a:buClr>
                <a:schemeClr val="tx1"/>
              </a:buClr>
              <a:buSzPct val="135000"/>
            </a:pPr>
            <a:endParaRPr lang="en-GB" sz="2000" b="1" dirty="0" smtClean="0">
              <a:solidFill>
                <a:srgbClr val="FF0000"/>
              </a:solidFill>
              <a:ea typeface="ＭＳ Ｐゴシック" charset="0"/>
            </a:endParaRPr>
          </a:p>
          <a:p>
            <a:pPr marL="342900" indent="-342900" algn="just" defTabSz="457200" fontAlgn="base">
              <a:spcBef>
                <a:spcPts val="400"/>
              </a:spcBef>
              <a:spcAft>
                <a:spcPct val="0"/>
              </a:spcAft>
              <a:buClr>
                <a:schemeClr val="tx1"/>
              </a:buClr>
              <a:buSzPct val="135000"/>
            </a:pPr>
            <a:endParaRPr lang="en-GB" sz="2000" b="1" dirty="0" smtClean="0">
              <a:solidFill>
                <a:srgbClr val="FF0000"/>
              </a:solidFill>
              <a:ea typeface="ＭＳ Ｐゴシック" charset="0"/>
            </a:endParaRPr>
          </a:p>
          <a:p>
            <a:pPr marL="342900" indent="-342900" algn="just" defTabSz="457200" fontAlgn="base">
              <a:spcBef>
                <a:spcPts val="400"/>
              </a:spcBef>
              <a:spcAft>
                <a:spcPct val="0"/>
              </a:spcAft>
              <a:buClr>
                <a:schemeClr val="tx1"/>
              </a:buClr>
              <a:buSzPct val="135000"/>
            </a:pPr>
            <a:endParaRPr lang="en-GB" sz="2000" b="1" dirty="0" smtClean="0">
              <a:solidFill>
                <a:srgbClr val="FF0000"/>
              </a:solidFill>
              <a:ea typeface="ＭＳ Ｐゴシック" charset="0"/>
            </a:endParaRPr>
          </a:p>
          <a:p>
            <a:pPr marL="342900" indent="-342900" algn="just" defTabSz="457200" fontAlgn="base">
              <a:spcBef>
                <a:spcPts val="400"/>
              </a:spcBef>
              <a:spcAft>
                <a:spcPct val="0"/>
              </a:spcAft>
              <a:buClr>
                <a:schemeClr val="tx1"/>
              </a:buClr>
              <a:buSzPct val="135000"/>
            </a:pPr>
            <a:endParaRPr lang="en-IN" sz="2000" b="1" dirty="0">
              <a:solidFill>
                <a:srgbClr val="FF0000"/>
              </a:solidFill>
              <a:ea typeface="ＭＳ Ｐゴシック" charset="0"/>
            </a:endParaRPr>
          </a:p>
          <a:p>
            <a:pPr algn="just" defTabSz="457200" fontAlgn="base">
              <a:spcBef>
                <a:spcPts val="400"/>
              </a:spcBef>
              <a:spcAft>
                <a:spcPct val="0"/>
              </a:spcAft>
              <a:buClr>
                <a:srgbClr val="C00000"/>
              </a:buClr>
              <a:buSzPct val="135000"/>
            </a:pPr>
            <a:endParaRPr lang="en-IN" sz="2400" dirty="0">
              <a:ea typeface="ＭＳ Ｐゴシック" charset="0"/>
            </a:endParaRPr>
          </a:p>
        </p:txBody>
      </p:sp>
    </p:spTree>
    <p:custDataLst>
      <p:tags r:id="rId1"/>
    </p:custDataLst>
    <p:extLst>
      <p:ext uri="{BB962C8B-B14F-4D97-AF65-F5344CB8AC3E}">
        <p14:creationId xmlns:p14="http://schemas.microsoft.com/office/powerpoint/2010/main" xmlns="" val="4037166608"/>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8</a:t>
            </a:fld>
            <a:endParaRPr lang="en-IN">
              <a:solidFill>
                <a:prstClr val="black">
                  <a:tint val="75000"/>
                </a:prstClr>
              </a:solidFill>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8318DB55-CE45-4E20-8962-861BF626458E}"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9"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0"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1" name="TextBox 10"/>
          <p:cNvSpPr txBox="1"/>
          <p:nvPr/>
        </p:nvSpPr>
        <p:spPr>
          <a:xfrm>
            <a:off x="107504" y="68722"/>
            <a:ext cx="8336668" cy="461665"/>
          </a:xfrm>
          <a:prstGeom prst="rect">
            <a:avLst/>
          </a:prstGeom>
          <a:noFill/>
        </p:spPr>
        <p:txBody>
          <a:bodyPr wrap="square" rtlCol="0">
            <a:spAutoFit/>
          </a:bodyPr>
          <a:lstStyle/>
          <a:p>
            <a:r>
              <a:rPr lang="en-US" sz="2400" b="1" dirty="0" smtClean="0">
                <a:solidFill>
                  <a:srgbClr val="FF0000"/>
                </a:solidFill>
              </a:rPr>
              <a:t>System Architecture </a:t>
            </a:r>
            <a:endParaRPr lang="en-US" sz="2400" b="1" dirty="0">
              <a:solidFill>
                <a:srgbClr val="FF0000"/>
              </a:solidFill>
            </a:endParaRPr>
          </a:p>
        </p:txBody>
      </p:sp>
      <p:pic>
        <p:nvPicPr>
          <p:cNvPr id="12"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ectangle 12"/>
          <p:cNvSpPr/>
          <p:nvPr/>
        </p:nvSpPr>
        <p:spPr>
          <a:xfrm>
            <a:off x="107504" y="590031"/>
            <a:ext cx="8928992" cy="3997944"/>
          </a:xfrm>
          <a:prstGeom prst="rect">
            <a:avLst/>
          </a:prstGeom>
        </p:spPr>
        <p:txBody>
          <a:bodyPr wrap="square" anchor="t" anchorCtr="0">
            <a:noAutofit/>
          </a:bodyPr>
          <a:lstStyle/>
          <a:p>
            <a:pPr algn="just" defTabSz="457200" fontAlgn="base">
              <a:spcBef>
                <a:spcPts val="400"/>
              </a:spcBef>
              <a:spcAft>
                <a:spcPct val="0"/>
              </a:spcAft>
              <a:buClr>
                <a:srgbClr val="C00000"/>
              </a:buClr>
              <a:buSzPct val="135000"/>
            </a:pPr>
            <a:endParaRPr lang="en-IN" sz="2400" dirty="0">
              <a:ea typeface="ＭＳ Ｐゴシック" charset="0"/>
            </a:endParaRPr>
          </a:p>
        </p:txBody>
      </p:sp>
      <p:pic>
        <p:nvPicPr>
          <p:cNvPr id="14" name="Picture 13" descr="SYS.png"/>
          <p:cNvPicPr>
            <a:picLocks noChangeAspect="1"/>
          </p:cNvPicPr>
          <p:nvPr/>
        </p:nvPicPr>
        <p:blipFill>
          <a:blip r:embed="rId5" cstate="print"/>
          <a:stretch>
            <a:fillRect/>
          </a:stretch>
        </p:blipFill>
        <p:spPr>
          <a:xfrm>
            <a:off x="1876425" y="1819275"/>
            <a:ext cx="5391150" cy="15049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9</a:t>
            </a:fld>
            <a:endParaRPr lang="en-IN">
              <a:solidFill>
                <a:prstClr val="black">
                  <a:tint val="75000"/>
                </a:prstClr>
              </a:solidFill>
            </a:endParaRPr>
          </a:p>
        </p:txBody>
      </p:sp>
      <p:sp>
        <p:nvSpPr>
          <p:cNvPr id="5"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9"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1"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8318DB55-CE45-4E20-8962-861BF626458E}"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2"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3"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4" name="TextBox 13"/>
          <p:cNvSpPr txBox="1"/>
          <p:nvPr/>
        </p:nvSpPr>
        <p:spPr>
          <a:xfrm>
            <a:off x="107504" y="68722"/>
            <a:ext cx="8336668" cy="461665"/>
          </a:xfrm>
          <a:prstGeom prst="rect">
            <a:avLst/>
          </a:prstGeom>
          <a:noFill/>
        </p:spPr>
        <p:txBody>
          <a:bodyPr wrap="square" rtlCol="0">
            <a:spAutoFit/>
          </a:bodyPr>
          <a:lstStyle/>
          <a:p>
            <a:r>
              <a:rPr lang="en-US" sz="2400" b="1" dirty="0" smtClean="0">
                <a:solidFill>
                  <a:srgbClr val="FF0000"/>
                </a:solidFill>
              </a:rPr>
              <a:t>Block Diagram </a:t>
            </a:r>
            <a:endParaRPr lang="en-US" sz="2400" b="1" dirty="0">
              <a:solidFill>
                <a:srgbClr val="FF0000"/>
              </a:solidFill>
            </a:endParaRPr>
          </a:p>
        </p:txBody>
      </p:sp>
      <p:pic>
        <p:nvPicPr>
          <p:cNvPr id="15"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6" name="Rectangle 15"/>
          <p:cNvSpPr/>
          <p:nvPr/>
        </p:nvSpPr>
        <p:spPr>
          <a:xfrm>
            <a:off x="107504" y="590031"/>
            <a:ext cx="8928992" cy="3997944"/>
          </a:xfrm>
          <a:prstGeom prst="rect">
            <a:avLst/>
          </a:prstGeom>
        </p:spPr>
        <p:txBody>
          <a:bodyPr wrap="square" anchor="t" anchorCtr="0">
            <a:noAutofit/>
          </a:bodyPr>
          <a:lstStyle/>
          <a:p>
            <a:pPr algn="just" defTabSz="457200" fontAlgn="base">
              <a:spcBef>
                <a:spcPts val="400"/>
              </a:spcBef>
              <a:spcAft>
                <a:spcPct val="0"/>
              </a:spcAft>
              <a:buClr>
                <a:srgbClr val="C00000"/>
              </a:buClr>
              <a:buSzPct val="135000"/>
            </a:pPr>
            <a:endParaRPr lang="en-IN" sz="2400" dirty="0">
              <a:ea typeface="ＭＳ Ｐゴシック" charset="0"/>
            </a:endParaRPr>
          </a:p>
        </p:txBody>
      </p:sp>
      <p:sp>
        <p:nvSpPr>
          <p:cNvPr id="1028" name="AutoShape 4" descr="https://www.pantechelearning.com/wp-content/uploads/2021/01/Node-Road-600x516.p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 name="Picture 19" descr="Screenshot 2023-04-28 091044.jpg"/>
          <p:cNvPicPr>
            <a:picLocks noChangeAspect="1"/>
          </p:cNvPicPr>
          <p:nvPr/>
        </p:nvPicPr>
        <p:blipFill>
          <a:blip r:embed="rId5" cstate="print"/>
          <a:stretch>
            <a:fillRect/>
          </a:stretch>
        </p:blipFill>
        <p:spPr>
          <a:xfrm>
            <a:off x="2339752" y="771550"/>
            <a:ext cx="4680520" cy="38245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10</a:t>
            </a:fld>
            <a:endParaRPr lang="en-IN">
              <a:solidFill>
                <a:prstClr val="black">
                  <a:tint val="75000"/>
                </a:prstClr>
              </a:solidFill>
            </a:endParaRPr>
          </a:p>
        </p:txBody>
      </p:sp>
      <p:sp>
        <p:nvSpPr>
          <p:cNvPr id="5"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9"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1"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8318DB55-CE45-4E20-8962-861BF626458E}"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2"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3"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4" name="TextBox 13"/>
          <p:cNvSpPr txBox="1"/>
          <p:nvPr/>
        </p:nvSpPr>
        <p:spPr>
          <a:xfrm>
            <a:off x="107504" y="68722"/>
            <a:ext cx="8336668" cy="461665"/>
          </a:xfrm>
          <a:prstGeom prst="rect">
            <a:avLst/>
          </a:prstGeom>
          <a:noFill/>
        </p:spPr>
        <p:txBody>
          <a:bodyPr wrap="square" rtlCol="0">
            <a:spAutoFit/>
          </a:bodyPr>
          <a:lstStyle/>
          <a:p>
            <a:r>
              <a:rPr lang="en-US" sz="2400" b="1" dirty="0" smtClean="0">
                <a:solidFill>
                  <a:srgbClr val="FF0000"/>
                </a:solidFill>
              </a:rPr>
              <a:t> Data Flow Diagram </a:t>
            </a:r>
            <a:endParaRPr lang="en-US" sz="2400" b="1" dirty="0">
              <a:solidFill>
                <a:srgbClr val="FF0000"/>
              </a:solidFill>
            </a:endParaRPr>
          </a:p>
        </p:txBody>
      </p:sp>
      <p:pic>
        <p:nvPicPr>
          <p:cNvPr id="15"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6" name="Rectangle 15"/>
          <p:cNvSpPr/>
          <p:nvPr/>
        </p:nvSpPr>
        <p:spPr>
          <a:xfrm>
            <a:off x="107504" y="590031"/>
            <a:ext cx="8928992" cy="3997944"/>
          </a:xfrm>
          <a:prstGeom prst="rect">
            <a:avLst/>
          </a:prstGeom>
        </p:spPr>
        <p:txBody>
          <a:bodyPr wrap="square" anchor="t" anchorCtr="0">
            <a:noAutofit/>
          </a:bodyPr>
          <a:lstStyle/>
          <a:p>
            <a:pPr algn="just" defTabSz="457200" fontAlgn="base">
              <a:spcBef>
                <a:spcPts val="400"/>
              </a:spcBef>
              <a:spcAft>
                <a:spcPct val="0"/>
              </a:spcAft>
              <a:buClr>
                <a:srgbClr val="C00000"/>
              </a:buClr>
              <a:buSzPct val="135000"/>
            </a:pPr>
            <a:endParaRPr lang="en-IN" sz="2400" dirty="0">
              <a:ea typeface="ＭＳ Ｐゴシック" charset="0"/>
            </a:endParaRPr>
          </a:p>
        </p:txBody>
      </p:sp>
      <p:pic>
        <p:nvPicPr>
          <p:cNvPr id="2050" name="Picture 2" descr="C:\Users\HariHaran\Downloads\Screenshot 2023-04-28 091421.jpg"/>
          <p:cNvPicPr>
            <a:picLocks noChangeAspect="1" noChangeArrowheads="1"/>
          </p:cNvPicPr>
          <p:nvPr/>
        </p:nvPicPr>
        <p:blipFill>
          <a:blip r:embed="rId5" cstate="print"/>
          <a:srcRect/>
          <a:stretch>
            <a:fillRect/>
          </a:stretch>
        </p:blipFill>
        <p:spPr bwMode="auto">
          <a:xfrm>
            <a:off x="2483768" y="627534"/>
            <a:ext cx="4479683" cy="4032448"/>
          </a:xfrm>
          <a:prstGeom prst="rect">
            <a:avLst/>
          </a:prstGeom>
          <a:noFill/>
        </p:spPr>
      </p:pic>
      <p:sp>
        <p:nvSpPr>
          <p:cNvPr id="21" name="TextBox 20"/>
          <p:cNvSpPr txBox="1"/>
          <p:nvPr/>
        </p:nvSpPr>
        <p:spPr>
          <a:xfrm>
            <a:off x="467544" y="1059582"/>
            <a:ext cx="2289473" cy="353943"/>
          </a:xfrm>
          <a:prstGeom prst="rect">
            <a:avLst/>
          </a:prstGeom>
          <a:noFill/>
        </p:spPr>
        <p:txBody>
          <a:bodyPr wrap="none" rtlCol="0">
            <a:spAutoFit/>
          </a:bodyPr>
          <a:lstStyle/>
          <a:p>
            <a:pPr>
              <a:buFont typeface="Wingdings" pitchFamily="2" charset="2"/>
              <a:buChar char="Ø"/>
            </a:pPr>
            <a:r>
              <a:rPr lang="en-IN" b="1" dirty="0" err="1" smtClean="0">
                <a:solidFill>
                  <a:srgbClr val="FF0000"/>
                </a:solidFill>
              </a:rPr>
              <a:t>IoT</a:t>
            </a:r>
            <a:r>
              <a:rPr lang="en-IN" b="1" dirty="0" smtClean="0">
                <a:solidFill>
                  <a:srgbClr val="FF0000"/>
                </a:solidFill>
              </a:rPr>
              <a:t> Device Flowchart</a:t>
            </a:r>
            <a:endParaRPr lang="en-US" b="1"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11</a:t>
            </a:fld>
            <a:endParaRPr lang="en-IN">
              <a:solidFill>
                <a:prstClr val="black">
                  <a:tint val="75000"/>
                </a:prstClr>
              </a:solidFill>
            </a:endParaRPr>
          </a:p>
        </p:txBody>
      </p:sp>
      <p:sp>
        <p:nvSpPr>
          <p:cNvPr id="5"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10"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pic>
        <p:nvPicPr>
          <p:cNvPr id="11" name="Picture 10"/>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2"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3"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8318DB55-CE45-4E20-8962-861BF626458E}"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5"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6"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7" name="TextBox 16"/>
          <p:cNvSpPr txBox="1"/>
          <p:nvPr/>
        </p:nvSpPr>
        <p:spPr>
          <a:xfrm>
            <a:off x="107504" y="68722"/>
            <a:ext cx="8336668" cy="461665"/>
          </a:xfrm>
          <a:prstGeom prst="rect">
            <a:avLst/>
          </a:prstGeom>
          <a:noFill/>
        </p:spPr>
        <p:txBody>
          <a:bodyPr wrap="square" rtlCol="0">
            <a:spAutoFit/>
          </a:bodyPr>
          <a:lstStyle/>
          <a:p>
            <a:r>
              <a:rPr lang="en-US" sz="2400" b="1" dirty="0" smtClean="0">
                <a:solidFill>
                  <a:srgbClr val="FF0000"/>
                </a:solidFill>
              </a:rPr>
              <a:t> Data Flow Diagram </a:t>
            </a:r>
            <a:endParaRPr lang="en-US" sz="2400" b="1" dirty="0">
              <a:solidFill>
                <a:srgbClr val="FF0000"/>
              </a:solidFill>
            </a:endParaRPr>
          </a:p>
        </p:txBody>
      </p:sp>
      <p:pic>
        <p:nvPicPr>
          <p:cNvPr id="18"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9" name="Rectangle 18"/>
          <p:cNvSpPr/>
          <p:nvPr/>
        </p:nvSpPr>
        <p:spPr>
          <a:xfrm>
            <a:off x="107504" y="590031"/>
            <a:ext cx="8928992" cy="3997944"/>
          </a:xfrm>
          <a:prstGeom prst="rect">
            <a:avLst/>
          </a:prstGeom>
        </p:spPr>
        <p:txBody>
          <a:bodyPr wrap="square" anchor="t" anchorCtr="0">
            <a:noAutofit/>
          </a:bodyPr>
          <a:lstStyle/>
          <a:p>
            <a:pPr algn="just" defTabSz="457200" fontAlgn="base">
              <a:spcBef>
                <a:spcPts val="400"/>
              </a:spcBef>
              <a:spcAft>
                <a:spcPct val="0"/>
              </a:spcAft>
              <a:buClr>
                <a:srgbClr val="C00000"/>
              </a:buClr>
              <a:buSzPct val="135000"/>
            </a:pPr>
            <a:endParaRPr lang="en-IN" sz="2400" dirty="0">
              <a:ea typeface="ＭＳ Ｐゴシック" charset="0"/>
            </a:endParaRPr>
          </a:p>
        </p:txBody>
      </p:sp>
      <p:sp>
        <p:nvSpPr>
          <p:cNvPr id="21" name="TextBox 20"/>
          <p:cNvSpPr txBox="1"/>
          <p:nvPr/>
        </p:nvSpPr>
        <p:spPr>
          <a:xfrm>
            <a:off x="467544" y="1059582"/>
            <a:ext cx="2578013" cy="353943"/>
          </a:xfrm>
          <a:prstGeom prst="rect">
            <a:avLst/>
          </a:prstGeom>
          <a:noFill/>
        </p:spPr>
        <p:txBody>
          <a:bodyPr wrap="none" rtlCol="0">
            <a:spAutoFit/>
          </a:bodyPr>
          <a:lstStyle/>
          <a:p>
            <a:pPr>
              <a:buFont typeface="Wingdings" pitchFamily="2" charset="2"/>
              <a:buChar char="Ø"/>
            </a:pPr>
            <a:r>
              <a:rPr lang="en-IN" b="1" dirty="0" smtClean="0">
                <a:solidFill>
                  <a:srgbClr val="FF0000"/>
                </a:solidFill>
              </a:rPr>
              <a:t>Python Server Flowchart</a:t>
            </a:r>
            <a:endParaRPr lang="en-US" b="1" dirty="0">
              <a:solidFill>
                <a:srgbClr val="FF0000"/>
              </a:solidFill>
            </a:endParaRPr>
          </a:p>
        </p:txBody>
      </p:sp>
      <p:pic>
        <p:nvPicPr>
          <p:cNvPr id="22" name="Picture 21" descr="Screenshot 2023-04-28 091548.jpg"/>
          <p:cNvPicPr>
            <a:picLocks noChangeAspect="1"/>
          </p:cNvPicPr>
          <p:nvPr/>
        </p:nvPicPr>
        <p:blipFill>
          <a:blip r:embed="rId5" cstate="print"/>
          <a:stretch>
            <a:fillRect/>
          </a:stretch>
        </p:blipFill>
        <p:spPr>
          <a:xfrm>
            <a:off x="3275856" y="715134"/>
            <a:ext cx="2304255" cy="386815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12</a:t>
            </a:fld>
            <a:endParaRPr lang="en-IN">
              <a:solidFill>
                <a:prstClr val="black">
                  <a:tint val="75000"/>
                </a:prstClr>
              </a:solidFill>
            </a:endParaRPr>
          </a:p>
        </p:txBody>
      </p:sp>
      <p:sp>
        <p:nvSpPr>
          <p:cNvPr id="5"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8"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9"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10"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11"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12"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13"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pic>
        <p:nvPicPr>
          <p:cNvPr id="14" name="Picture 1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5"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7"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8318DB55-CE45-4E20-8962-861BF626458E}"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8"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9"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20" name="TextBox 19"/>
          <p:cNvSpPr txBox="1"/>
          <p:nvPr/>
        </p:nvSpPr>
        <p:spPr>
          <a:xfrm>
            <a:off x="107504" y="68722"/>
            <a:ext cx="8336668" cy="461665"/>
          </a:xfrm>
          <a:prstGeom prst="rect">
            <a:avLst/>
          </a:prstGeom>
          <a:noFill/>
        </p:spPr>
        <p:txBody>
          <a:bodyPr wrap="square" rtlCol="0">
            <a:spAutoFit/>
          </a:bodyPr>
          <a:lstStyle/>
          <a:p>
            <a:r>
              <a:rPr lang="en-US" sz="2400" b="1" dirty="0" smtClean="0">
                <a:solidFill>
                  <a:srgbClr val="FF0000"/>
                </a:solidFill>
              </a:rPr>
              <a:t> System Requirements </a:t>
            </a:r>
            <a:endParaRPr lang="en-US" sz="2400" b="1" dirty="0">
              <a:solidFill>
                <a:srgbClr val="FF0000"/>
              </a:solidFill>
            </a:endParaRPr>
          </a:p>
        </p:txBody>
      </p:sp>
      <p:pic>
        <p:nvPicPr>
          <p:cNvPr id="21"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2" name="Rectangle 21"/>
          <p:cNvSpPr/>
          <p:nvPr/>
        </p:nvSpPr>
        <p:spPr>
          <a:xfrm>
            <a:off x="107504" y="590031"/>
            <a:ext cx="8928992" cy="3997944"/>
          </a:xfrm>
          <a:prstGeom prst="rect">
            <a:avLst/>
          </a:prstGeom>
        </p:spPr>
        <p:txBody>
          <a:bodyPr wrap="square" anchor="t" anchorCtr="0">
            <a:noAutofit/>
          </a:bodyPr>
          <a:lstStyle/>
          <a:p>
            <a:pPr algn="just" defTabSz="457200" fontAlgn="base">
              <a:spcBef>
                <a:spcPts val="400"/>
              </a:spcBef>
              <a:spcAft>
                <a:spcPct val="0"/>
              </a:spcAft>
              <a:buClr>
                <a:srgbClr val="C00000"/>
              </a:buClr>
              <a:buSzPct val="135000"/>
            </a:pPr>
            <a:endParaRPr lang="en-IN" sz="2400" dirty="0">
              <a:ea typeface="ＭＳ Ｐゴシック" charset="0"/>
            </a:endParaRPr>
          </a:p>
        </p:txBody>
      </p:sp>
      <p:sp>
        <p:nvSpPr>
          <p:cNvPr id="23" name="TextBox 22"/>
          <p:cNvSpPr txBox="1"/>
          <p:nvPr/>
        </p:nvSpPr>
        <p:spPr>
          <a:xfrm>
            <a:off x="251520" y="555526"/>
            <a:ext cx="8784976" cy="4278094"/>
          </a:xfrm>
          <a:prstGeom prst="rect">
            <a:avLst/>
          </a:prstGeom>
          <a:noFill/>
        </p:spPr>
        <p:txBody>
          <a:bodyPr wrap="square" rtlCol="0">
            <a:spAutoFit/>
          </a:bodyPr>
          <a:lstStyle/>
          <a:p>
            <a:r>
              <a:rPr lang="en-IN" b="1" dirty="0" smtClean="0">
                <a:solidFill>
                  <a:srgbClr val="FF0000"/>
                </a:solidFill>
              </a:rPr>
              <a:t>Hardware Requirements:</a:t>
            </a:r>
          </a:p>
          <a:p>
            <a:pPr>
              <a:buFont typeface="Wingdings" pitchFamily="2" charset="2"/>
              <a:buChar char="Ø"/>
            </a:pPr>
            <a:r>
              <a:rPr lang="en-IN" dirty="0" smtClean="0"/>
              <a:t>Processor </a:t>
            </a:r>
            <a:r>
              <a:rPr lang="en-IN" dirty="0" smtClean="0"/>
              <a:t>              : </a:t>
            </a:r>
            <a:r>
              <a:rPr lang="en-IN" dirty="0" smtClean="0"/>
              <a:t>Intel i3 or More</a:t>
            </a:r>
          </a:p>
          <a:p>
            <a:pPr>
              <a:buFont typeface="Wingdings" pitchFamily="2" charset="2"/>
              <a:buChar char="Ø"/>
            </a:pPr>
            <a:r>
              <a:rPr lang="en-IN" dirty="0" smtClean="0"/>
              <a:t>Ram        </a:t>
            </a:r>
            <a:r>
              <a:rPr lang="en-IN" dirty="0" smtClean="0"/>
              <a:t>                </a:t>
            </a:r>
            <a:r>
              <a:rPr lang="en-IN" dirty="0" smtClean="0"/>
              <a:t>: 4GB or More</a:t>
            </a:r>
          </a:p>
          <a:p>
            <a:pPr>
              <a:buFont typeface="Wingdings" pitchFamily="2" charset="2"/>
              <a:buChar char="Ø"/>
            </a:pPr>
            <a:r>
              <a:rPr lang="en-IN" dirty="0" smtClean="0"/>
              <a:t>Hard Disk </a:t>
            </a:r>
            <a:r>
              <a:rPr lang="en-IN" dirty="0" smtClean="0"/>
              <a:t>              </a:t>
            </a:r>
            <a:r>
              <a:rPr lang="en-IN" dirty="0" smtClean="0"/>
              <a:t>: 128GB or More</a:t>
            </a:r>
          </a:p>
          <a:p>
            <a:pPr>
              <a:buFont typeface="Wingdings" pitchFamily="2" charset="2"/>
              <a:buChar char="Ø"/>
            </a:pPr>
            <a:r>
              <a:rPr lang="en-IN" dirty="0" smtClean="0"/>
              <a:t>Network  </a:t>
            </a:r>
            <a:r>
              <a:rPr lang="en-IN" dirty="0" smtClean="0"/>
              <a:t>               </a:t>
            </a:r>
            <a:r>
              <a:rPr lang="en-IN" dirty="0" smtClean="0"/>
              <a:t>: Wireless Network</a:t>
            </a:r>
          </a:p>
          <a:p>
            <a:endParaRPr lang="en-IN" dirty="0" smtClean="0"/>
          </a:p>
          <a:p>
            <a:r>
              <a:rPr lang="en-IN" b="1" dirty="0" smtClean="0">
                <a:solidFill>
                  <a:srgbClr val="FF0000"/>
                </a:solidFill>
              </a:rPr>
              <a:t>Hardware Components:</a:t>
            </a:r>
          </a:p>
          <a:p>
            <a:pPr>
              <a:buFont typeface="Wingdings" pitchFamily="2" charset="2"/>
              <a:buChar char="Ø"/>
            </a:pPr>
            <a:r>
              <a:rPr lang="en-IN" dirty="0" err="1" smtClean="0"/>
              <a:t>NodeMCU</a:t>
            </a:r>
            <a:r>
              <a:rPr lang="en-IN" dirty="0" smtClean="0"/>
              <a:t>             :  ESP8266MOD</a:t>
            </a:r>
            <a:endParaRPr lang="en-IN" dirty="0" smtClean="0"/>
          </a:p>
          <a:p>
            <a:pPr>
              <a:buFont typeface="Wingdings" pitchFamily="2" charset="2"/>
              <a:buChar char="Ø"/>
            </a:pPr>
            <a:r>
              <a:rPr lang="en-IN" dirty="0" smtClean="0"/>
              <a:t>Sensor Modules </a:t>
            </a:r>
            <a:r>
              <a:rPr lang="en-IN" dirty="0" smtClean="0"/>
              <a:t>  :  IMU</a:t>
            </a:r>
            <a:r>
              <a:rPr lang="en-IN" dirty="0" smtClean="0"/>
              <a:t>, GPS, IR and Ultrasonic </a:t>
            </a:r>
          </a:p>
          <a:p>
            <a:pPr>
              <a:buFont typeface="Wingdings" pitchFamily="2" charset="2"/>
              <a:buChar char="Ø"/>
            </a:pPr>
            <a:r>
              <a:rPr lang="en-IN" dirty="0" smtClean="0"/>
              <a:t>Power Supply </a:t>
            </a:r>
            <a:r>
              <a:rPr lang="en-IN" dirty="0" smtClean="0"/>
              <a:t>      :  9v </a:t>
            </a:r>
            <a:r>
              <a:rPr lang="en-IN" dirty="0" smtClean="0"/>
              <a:t>Battery or 3.7v </a:t>
            </a:r>
            <a:r>
              <a:rPr lang="en-IN" dirty="0" err="1" smtClean="0"/>
              <a:t>LiPo</a:t>
            </a:r>
            <a:r>
              <a:rPr lang="en-IN" dirty="0" smtClean="0"/>
              <a:t> Battery</a:t>
            </a:r>
          </a:p>
          <a:p>
            <a:pPr>
              <a:buFont typeface="Wingdings" pitchFamily="2" charset="2"/>
              <a:buChar char="Ø"/>
            </a:pPr>
            <a:r>
              <a:rPr lang="en-IN" dirty="0" smtClean="0"/>
              <a:t>Connection </a:t>
            </a:r>
            <a:r>
              <a:rPr lang="en-IN" dirty="0" smtClean="0"/>
              <a:t>          :  Connecting </a:t>
            </a:r>
            <a:r>
              <a:rPr lang="en-IN" dirty="0" smtClean="0"/>
              <a:t>Jumper Wires  and JST Wire</a:t>
            </a:r>
          </a:p>
          <a:p>
            <a:endParaRPr lang="en-IN" dirty="0" smtClean="0"/>
          </a:p>
          <a:p>
            <a:r>
              <a:rPr lang="en-IN" b="1" dirty="0" smtClean="0">
                <a:solidFill>
                  <a:srgbClr val="FF0000"/>
                </a:solidFill>
              </a:rPr>
              <a:t>Software Requirements:</a:t>
            </a:r>
          </a:p>
          <a:p>
            <a:pPr>
              <a:buFont typeface="Wingdings" pitchFamily="2" charset="2"/>
              <a:buChar char="Ø"/>
            </a:pPr>
            <a:r>
              <a:rPr lang="en-IN" dirty="0" smtClean="0"/>
              <a:t>Operating System :  Windows 7/8/9/10/11</a:t>
            </a:r>
          </a:p>
          <a:p>
            <a:pPr>
              <a:buFont typeface="Wingdings" pitchFamily="2" charset="2"/>
              <a:buChar char="Ø"/>
            </a:pPr>
            <a:r>
              <a:rPr lang="en-IN" dirty="0" smtClean="0"/>
              <a:t>SDK  </a:t>
            </a:r>
            <a:r>
              <a:rPr lang="en-IN" dirty="0" smtClean="0"/>
              <a:t>                        :  </a:t>
            </a:r>
            <a:r>
              <a:rPr lang="en-IN" dirty="0" smtClean="0"/>
              <a:t>Python 3.9.5</a:t>
            </a:r>
          </a:p>
          <a:p>
            <a:pPr>
              <a:buFont typeface="Wingdings" pitchFamily="2" charset="2"/>
              <a:buChar char="Ø"/>
            </a:pPr>
            <a:r>
              <a:rPr lang="en-IN" dirty="0" smtClean="0"/>
              <a:t>IDE  </a:t>
            </a:r>
            <a:r>
              <a:rPr lang="en-IN" dirty="0" smtClean="0"/>
              <a:t>                         :  </a:t>
            </a:r>
            <a:r>
              <a:rPr lang="en-IN" dirty="0" err="1" smtClean="0"/>
              <a:t>Arduino</a:t>
            </a:r>
            <a:r>
              <a:rPr lang="en-IN" dirty="0" smtClean="0"/>
              <a:t> </a:t>
            </a:r>
            <a:r>
              <a:rPr lang="en-IN" dirty="0" smtClean="0"/>
              <a:t>2.1 and Firebase</a:t>
            </a:r>
            <a:endParaRPr lang="en-IN"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1478FF98-FE25-4156-B625-32D630678B5F}"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13</a:t>
            </a:fld>
            <a:endParaRPr lang="en-IN">
              <a:solidFill>
                <a:srgbClr val="000099"/>
              </a:solidFill>
            </a:endParaRPr>
          </a:p>
        </p:txBody>
      </p:sp>
      <p:sp>
        <p:nvSpPr>
          <p:cNvPr id="15" name="TextBox 14"/>
          <p:cNvSpPr txBox="1"/>
          <p:nvPr/>
        </p:nvSpPr>
        <p:spPr>
          <a:xfrm>
            <a:off x="35496" y="38071"/>
            <a:ext cx="8336668" cy="461665"/>
          </a:xfrm>
          <a:prstGeom prst="rect">
            <a:avLst/>
          </a:prstGeom>
          <a:noFill/>
        </p:spPr>
        <p:txBody>
          <a:bodyPr wrap="square" rtlCol="0">
            <a:spAutoFit/>
          </a:bodyPr>
          <a:lstStyle/>
          <a:p>
            <a:r>
              <a:rPr lang="en-US" sz="2400" b="1" dirty="0" smtClean="0">
                <a:solidFill>
                  <a:srgbClr val="FF0000"/>
                </a:solidFill>
              </a:rPr>
              <a:t>List of Module</a:t>
            </a:r>
            <a:r>
              <a:rPr lang="en-US" sz="2200" b="1" dirty="0" smtClean="0">
                <a:solidFill>
                  <a:srgbClr val="FF0000"/>
                </a:solidFill>
              </a:rPr>
              <a:t>s</a:t>
            </a:r>
            <a:endParaRPr lang="en-US" sz="2200" b="1" dirty="0">
              <a:solidFill>
                <a:srgbClr val="FF0000"/>
              </a:solidFill>
            </a:endParaRP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225642" y="590031"/>
            <a:ext cx="8712968" cy="3997944"/>
          </a:xfrm>
          <a:prstGeom prst="rect">
            <a:avLst/>
          </a:prstGeom>
        </p:spPr>
        <p:txBody>
          <a:bodyPr wrap="square" anchor="t" anchorCtr="0">
            <a:noAutofit/>
          </a:bodyPr>
          <a:lstStyle/>
          <a:p>
            <a:pPr lvl="0" algn="just" defTabSz="457200" fontAlgn="base">
              <a:spcBef>
                <a:spcPts val="400"/>
              </a:spcBef>
              <a:spcAft>
                <a:spcPct val="0"/>
              </a:spcAft>
              <a:buClr>
                <a:srgbClr val="C00000"/>
              </a:buClr>
              <a:buSzPct val="135000"/>
            </a:pPr>
            <a:endParaRPr lang="en-IN" sz="1800" dirty="0">
              <a:ea typeface="ＭＳ Ｐゴシック" charset="0"/>
            </a:endParaRPr>
          </a:p>
        </p:txBody>
      </p:sp>
      <p:sp>
        <p:nvSpPr>
          <p:cNvPr id="17" name="TextBox 16"/>
          <p:cNvSpPr txBox="1"/>
          <p:nvPr/>
        </p:nvSpPr>
        <p:spPr>
          <a:xfrm>
            <a:off x="971600" y="1131590"/>
            <a:ext cx="2053704" cy="1631216"/>
          </a:xfrm>
          <a:prstGeom prst="rect">
            <a:avLst/>
          </a:prstGeom>
          <a:noFill/>
        </p:spPr>
        <p:txBody>
          <a:bodyPr wrap="none" rtlCol="0">
            <a:spAutoFit/>
          </a:bodyPr>
          <a:lstStyle/>
          <a:p>
            <a:pPr>
              <a:buFont typeface="Wingdings" pitchFamily="2" charset="2"/>
              <a:buChar char="Ø"/>
            </a:pPr>
            <a:r>
              <a:rPr lang="en-IN" sz="2000" b="1" dirty="0" smtClean="0"/>
              <a:t>Assembly</a:t>
            </a:r>
          </a:p>
          <a:p>
            <a:pPr>
              <a:buFont typeface="Wingdings" pitchFamily="2" charset="2"/>
              <a:buChar char="Ø"/>
            </a:pPr>
            <a:endParaRPr lang="en-IN" sz="2000" b="1" dirty="0" smtClean="0"/>
          </a:p>
          <a:p>
            <a:pPr>
              <a:buFont typeface="Wingdings" pitchFamily="2" charset="2"/>
              <a:buChar char="Ø"/>
            </a:pPr>
            <a:r>
              <a:rPr lang="en-IN" sz="2000" b="1" dirty="0" smtClean="0"/>
              <a:t>Programming</a:t>
            </a:r>
          </a:p>
          <a:p>
            <a:pPr>
              <a:buFont typeface="Wingdings" pitchFamily="2" charset="2"/>
              <a:buChar char="Ø"/>
            </a:pPr>
            <a:endParaRPr lang="en-IN" sz="2000" b="1" dirty="0" smtClean="0"/>
          </a:p>
          <a:p>
            <a:pPr>
              <a:buFont typeface="Wingdings" pitchFamily="2" charset="2"/>
              <a:buChar char="Ø"/>
            </a:pPr>
            <a:r>
              <a:rPr lang="en-IN" sz="2000" b="1" dirty="0" smtClean="0"/>
              <a:t>Cloud Database</a:t>
            </a:r>
            <a:endParaRPr lang="en-US" sz="2000" b="1" dirty="0"/>
          </a:p>
        </p:txBody>
      </p:sp>
    </p:spTree>
    <p:custDataLst>
      <p:tags r:id="rId1"/>
    </p:custDataLst>
    <p:extLst>
      <p:ext uri="{BB962C8B-B14F-4D97-AF65-F5344CB8AC3E}">
        <p14:creationId xmlns:p14="http://schemas.microsoft.com/office/powerpoint/2010/main" xmlns="" val="940708778"/>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3ACEDBB5-1A20-4402-BA6E-ED389F5BC8D7}"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14</a:t>
            </a:fld>
            <a:endParaRPr lang="en-IN">
              <a:solidFill>
                <a:srgbClr val="000099"/>
              </a:solidFill>
            </a:endParaRPr>
          </a:p>
        </p:txBody>
      </p:sp>
      <p:sp>
        <p:nvSpPr>
          <p:cNvPr id="15" name="TextBox 14"/>
          <p:cNvSpPr txBox="1"/>
          <p:nvPr/>
        </p:nvSpPr>
        <p:spPr>
          <a:xfrm>
            <a:off x="107504" y="68722"/>
            <a:ext cx="8336668" cy="461665"/>
          </a:xfrm>
          <a:prstGeom prst="rect">
            <a:avLst/>
          </a:prstGeom>
          <a:noFill/>
        </p:spPr>
        <p:txBody>
          <a:bodyPr wrap="square" rtlCol="0">
            <a:spAutoFit/>
          </a:bodyPr>
          <a:lstStyle/>
          <a:p>
            <a:r>
              <a:rPr lang="en-IN" sz="2400" b="1" dirty="0" smtClean="0">
                <a:solidFill>
                  <a:srgbClr val="FF0000"/>
                </a:solidFill>
              </a:rPr>
              <a:t>Module Description</a:t>
            </a:r>
            <a:endParaRPr lang="en-US" sz="2400" b="1" dirty="0">
              <a:solidFill>
                <a:srgbClr val="FF0000"/>
              </a:solidFill>
            </a:endParaRP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07504" y="590031"/>
            <a:ext cx="8712968" cy="3997944"/>
          </a:xfrm>
          <a:prstGeom prst="rect">
            <a:avLst/>
          </a:prstGeom>
        </p:spPr>
        <p:txBody>
          <a:bodyPr wrap="square" anchor="t" anchorCtr="0">
            <a:noAutofit/>
          </a:bodyPr>
          <a:lstStyle/>
          <a:p>
            <a:pPr lvl="0" algn="just" defTabSz="457200" fontAlgn="base">
              <a:spcBef>
                <a:spcPts val="400"/>
              </a:spcBef>
              <a:spcAft>
                <a:spcPct val="0"/>
              </a:spcAft>
              <a:buClr>
                <a:srgbClr val="C00000"/>
              </a:buClr>
              <a:buSzPct val="135000"/>
            </a:pPr>
            <a:endParaRPr lang="en-IN" sz="1800" b="1">
              <a:solidFill>
                <a:srgbClr val="C00000"/>
              </a:solidFill>
              <a:latin typeface="Verdana"/>
              <a:ea typeface="ＭＳ Ｐゴシック" charset="0"/>
            </a:endParaRPr>
          </a:p>
        </p:txBody>
      </p:sp>
      <p:sp>
        <p:nvSpPr>
          <p:cNvPr id="3" name="TextBox 2">
            <a:extLst>
              <a:ext uri="{FF2B5EF4-FFF2-40B4-BE49-F238E27FC236}">
                <a16:creationId xmlns:a16="http://schemas.microsoft.com/office/drawing/2014/main" xmlns="" id="{1986B8C9-ADC7-20F3-B920-134B7E0E9BE6}"/>
              </a:ext>
            </a:extLst>
          </p:cNvPr>
          <p:cNvSpPr txBox="1"/>
          <p:nvPr/>
        </p:nvSpPr>
        <p:spPr>
          <a:xfrm>
            <a:off x="179512" y="700691"/>
            <a:ext cx="8983748" cy="3170099"/>
          </a:xfrm>
          <a:prstGeom prst="rect">
            <a:avLst/>
          </a:prstGeom>
          <a:noFill/>
        </p:spPr>
        <p:txBody>
          <a:bodyPr wrap="square" rtlCol="0">
            <a:spAutoFit/>
          </a:bodyPr>
          <a:lstStyle/>
          <a:p>
            <a:r>
              <a:rPr lang="en-US" sz="2000" b="1" dirty="0" smtClean="0">
                <a:solidFill>
                  <a:srgbClr val="FF0000"/>
                </a:solidFill>
              </a:rPr>
              <a:t>Assembly</a:t>
            </a:r>
          </a:p>
          <a:p>
            <a:pPr algn="just"/>
            <a:r>
              <a:rPr lang="en-GB" sz="2000" dirty="0" smtClean="0"/>
              <a:t> The </a:t>
            </a:r>
            <a:r>
              <a:rPr lang="en-GB" sz="2000" dirty="0" smtClean="0"/>
              <a:t>physical components that a </a:t>
            </a:r>
            <a:r>
              <a:rPr lang="en-GB" sz="2000" dirty="0" smtClean="0"/>
              <a:t>system </a:t>
            </a:r>
            <a:r>
              <a:rPr lang="en-GB" sz="2000" dirty="0" smtClean="0"/>
              <a:t>requires to function. It encompasses everything with a circuit board that operates within a </a:t>
            </a:r>
            <a:r>
              <a:rPr lang="en-GB" sz="2000" dirty="0" smtClean="0"/>
              <a:t>system. It including </a:t>
            </a:r>
            <a:r>
              <a:rPr lang="en-GB" sz="2000" dirty="0" smtClean="0"/>
              <a:t>the motherboard, </a:t>
            </a:r>
            <a:r>
              <a:rPr lang="en-GB" sz="2000" dirty="0" smtClean="0"/>
              <a:t>sensor modules, </a:t>
            </a:r>
            <a:r>
              <a:rPr lang="en-GB" sz="2000" dirty="0" smtClean="0"/>
              <a:t>power supply, and so on</a:t>
            </a:r>
            <a:r>
              <a:rPr lang="en-GB" sz="2000" dirty="0" smtClean="0"/>
              <a:t>.</a:t>
            </a:r>
          </a:p>
          <a:p>
            <a:endParaRPr lang="en-IN" sz="2000" dirty="0" smtClean="0"/>
          </a:p>
          <a:p>
            <a:r>
              <a:rPr lang="en-IN" sz="2000" b="1" dirty="0" smtClean="0">
                <a:solidFill>
                  <a:srgbClr val="FF0000"/>
                </a:solidFill>
              </a:rPr>
              <a:t>Programming</a:t>
            </a:r>
          </a:p>
          <a:p>
            <a:pPr algn="just"/>
            <a:r>
              <a:rPr lang="en-GB" sz="2000" dirty="0" smtClean="0"/>
              <a:t>The </a:t>
            </a:r>
            <a:r>
              <a:rPr lang="en-GB" sz="2000" dirty="0" err="1" smtClean="0"/>
              <a:t>Arduino</a:t>
            </a:r>
            <a:r>
              <a:rPr lang="en-GB" sz="2000" dirty="0" smtClean="0"/>
              <a:t> programming language has compiled on the </a:t>
            </a:r>
            <a:r>
              <a:rPr lang="en-GB" sz="2000" dirty="0" err="1" smtClean="0"/>
              <a:t>Arduino</a:t>
            </a:r>
            <a:r>
              <a:rPr lang="en-GB" sz="2000" dirty="0" smtClean="0"/>
              <a:t> IDE. It can be downloaded from https://www.arduino.cc/. This programming language is based on a simple hardware programming language called Processing, which is very similar to C language</a:t>
            </a:r>
            <a:endParaRPr lang="en-GB" sz="2000" b="1" dirty="0" smtClean="0">
              <a:solidFill>
                <a:srgbClr val="FF0000"/>
              </a:solidFill>
            </a:endParaRPr>
          </a:p>
        </p:txBody>
      </p:sp>
    </p:spTree>
    <p:custDataLst>
      <p:tags r:id="rId1"/>
    </p:custDataLst>
    <p:extLst>
      <p:ext uri="{BB962C8B-B14F-4D97-AF65-F5344CB8AC3E}">
        <p14:creationId xmlns:p14="http://schemas.microsoft.com/office/powerpoint/2010/main" xmlns="" val="1337884908"/>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15</a:t>
            </a:fld>
            <a:endParaRPr lang="en-IN">
              <a:solidFill>
                <a:prstClr val="black">
                  <a:tint val="75000"/>
                </a:prstClr>
              </a:solidFill>
            </a:endParaRPr>
          </a:p>
        </p:txBody>
      </p:sp>
      <p:pic>
        <p:nvPicPr>
          <p:cNvPr id="5"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3ACEDBB5-1A20-4402-BA6E-ED389F5BC8D7}"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9"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0"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1" name="TextBox 10"/>
          <p:cNvSpPr txBox="1"/>
          <p:nvPr/>
        </p:nvSpPr>
        <p:spPr>
          <a:xfrm>
            <a:off x="107504" y="68722"/>
            <a:ext cx="8336668" cy="461665"/>
          </a:xfrm>
          <a:prstGeom prst="rect">
            <a:avLst/>
          </a:prstGeom>
          <a:noFill/>
        </p:spPr>
        <p:txBody>
          <a:bodyPr wrap="square" rtlCol="0">
            <a:spAutoFit/>
          </a:bodyPr>
          <a:lstStyle/>
          <a:p>
            <a:r>
              <a:rPr lang="en-IN" sz="2400" b="1" dirty="0" smtClean="0">
                <a:solidFill>
                  <a:srgbClr val="FF0000"/>
                </a:solidFill>
              </a:rPr>
              <a:t>Module Description</a:t>
            </a:r>
            <a:endParaRPr lang="en-US" sz="2400" b="1" dirty="0">
              <a:solidFill>
                <a:srgbClr val="FF0000"/>
              </a:solidFill>
            </a:endParaRPr>
          </a:p>
        </p:txBody>
      </p:sp>
      <p:pic>
        <p:nvPicPr>
          <p:cNvPr id="12"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ectangle 12"/>
          <p:cNvSpPr/>
          <p:nvPr/>
        </p:nvSpPr>
        <p:spPr>
          <a:xfrm>
            <a:off x="107504" y="590031"/>
            <a:ext cx="8712968" cy="3997944"/>
          </a:xfrm>
          <a:prstGeom prst="rect">
            <a:avLst/>
          </a:prstGeom>
        </p:spPr>
        <p:txBody>
          <a:bodyPr wrap="square" anchor="t" anchorCtr="0">
            <a:noAutofit/>
          </a:bodyPr>
          <a:lstStyle/>
          <a:p>
            <a:pPr lvl="0" algn="just" defTabSz="457200" fontAlgn="base">
              <a:spcBef>
                <a:spcPts val="400"/>
              </a:spcBef>
              <a:spcAft>
                <a:spcPct val="0"/>
              </a:spcAft>
              <a:buClr>
                <a:srgbClr val="C00000"/>
              </a:buClr>
              <a:buSzPct val="135000"/>
            </a:pPr>
            <a:endParaRPr lang="en-IN" sz="1800" b="1">
              <a:solidFill>
                <a:srgbClr val="C00000"/>
              </a:solidFill>
              <a:latin typeface="Verdana"/>
              <a:ea typeface="ＭＳ Ｐゴシック" charset="0"/>
            </a:endParaRPr>
          </a:p>
        </p:txBody>
      </p:sp>
      <p:sp>
        <p:nvSpPr>
          <p:cNvPr id="14" name="TextBox 13">
            <a:extLst>
              <a:ext uri="{FF2B5EF4-FFF2-40B4-BE49-F238E27FC236}">
                <a16:creationId xmlns:a16="http://schemas.microsoft.com/office/drawing/2014/main" xmlns="" id="{1986B8C9-ADC7-20F3-B920-134B7E0E9BE6}"/>
              </a:ext>
            </a:extLst>
          </p:cNvPr>
          <p:cNvSpPr txBox="1"/>
          <p:nvPr/>
        </p:nvSpPr>
        <p:spPr>
          <a:xfrm>
            <a:off x="179512" y="700691"/>
            <a:ext cx="8983748" cy="2554545"/>
          </a:xfrm>
          <a:prstGeom prst="rect">
            <a:avLst/>
          </a:prstGeom>
          <a:noFill/>
        </p:spPr>
        <p:txBody>
          <a:bodyPr wrap="square" rtlCol="0">
            <a:spAutoFit/>
          </a:bodyPr>
          <a:lstStyle/>
          <a:p>
            <a:r>
              <a:rPr lang="en-IN" sz="2000" b="1" dirty="0" smtClean="0">
                <a:solidFill>
                  <a:srgbClr val="FF0000"/>
                </a:solidFill>
              </a:rPr>
              <a:t>Cloud Database</a:t>
            </a:r>
          </a:p>
          <a:p>
            <a:pPr algn="just"/>
            <a:r>
              <a:rPr lang="en-GB" sz="2000" dirty="0" smtClean="0"/>
              <a:t>  After </a:t>
            </a:r>
            <a:r>
              <a:rPr lang="en-GB" sz="2000" dirty="0" smtClean="0"/>
              <a:t>all devices are connected, we can move to compile code for ESP8266 to connect it to the Internet. When it is connected </a:t>
            </a:r>
            <a:r>
              <a:rPr lang="en-GB" sz="2000" dirty="0" smtClean="0"/>
              <a:t>successfully, </a:t>
            </a:r>
            <a:r>
              <a:rPr lang="en-GB" sz="2000" dirty="0" smtClean="0"/>
              <a:t>ESP8266 acts as a client and starts communicating with </a:t>
            </a:r>
            <a:r>
              <a:rPr lang="en-GB" sz="2000" dirty="0" smtClean="0"/>
              <a:t>server. It </a:t>
            </a:r>
            <a:r>
              <a:rPr lang="en-GB" sz="2000" dirty="0" smtClean="0"/>
              <a:t>needs to go through some steps before the </a:t>
            </a:r>
            <a:r>
              <a:rPr lang="en-GB" sz="2000" dirty="0" smtClean="0"/>
              <a:t>server stores </a:t>
            </a:r>
            <a:r>
              <a:rPr lang="en-GB" sz="2000" dirty="0" smtClean="0"/>
              <a:t>data. First, the data must be available. It means that the </a:t>
            </a:r>
            <a:r>
              <a:rPr lang="en-GB" sz="2000" dirty="0" smtClean="0"/>
              <a:t>sensor </a:t>
            </a:r>
            <a:r>
              <a:rPr lang="en-GB" sz="2000" dirty="0" smtClean="0"/>
              <a:t>should be able to transfer info from real world into </a:t>
            </a:r>
            <a:r>
              <a:rPr lang="en-GB" sz="2000" dirty="0" smtClean="0"/>
              <a:t>data. We are using firebase is a set of backend cloud computing services and application to store and retrieve data.</a:t>
            </a:r>
            <a:endParaRPr lang="en-US" sz="2000" b="1" dirty="0" smtClean="0">
              <a:solidFill>
                <a:srgbClr val="FF0000"/>
              </a:solidFill>
            </a:endParaRPr>
          </a:p>
          <a:p>
            <a:pPr algn="just"/>
            <a:r>
              <a:rPr lang="en-GB" sz="2000" dirty="0" smtClean="0"/>
              <a:t> </a:t>
            </a:r>
            <a:endParaRPr lang="en-GB" sz="2000" b="1" dirty="0" smtClean="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EDAB8B51-3CDD-4C9E-B9E8-6B6019A3C331}"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16</a:t>
            </a:fld>
            <a:endParaRPr lang="en-IN">
              <a:solidFill>
                <a:srgbClr val="000099"/>
              </a:solidFill>
            </a:endParaRPr>
          </a:p>
        </p:txBody>
      </p:sp>
      <p:sp>
        <p:nvSpPr>
          <p:cNvPr id="15" name="TextBox 14"/>
          <p:cNvSpPr txBox="1"/>
          <p:nvPr/>
        </p:nvSpPr>
        <p:spPr>
          <a:xfrm>
            <a:off x="107504" y="61102"/>
            <a:ext cx="8336668" cy="461665"/>
          </a:xfrm>
          <a:prstGeom prst="rect">
            <a:avLst/>
          </a:prstGeom>
          <a:noFill/>
        </p:spPr>
        <p:txBody>
          <a:bodyPr wrap="square" rtlCol="0">
            <a:spAutoFit/>
          </a:bodyPr>
          <a:lstStyle/>
          <a:p>
            <a:r>
              <a:rPr lang="en-IN" sz="2400" b="1" dirty="0" smtClean="0">
                <a:solidFill>
                  <a:srgbClr val="FF0000"/>
                </a:solidFill>
              </a:rPr>
              <a:t>Module Implementation</a:t>
            </a:r>
            <a:endParaRPr lang="en-US" sz="2400" b="1" dirty="0">
              <a:solidFill>
                <a:srgbClr val="FF0000"/>
              </a:solidFill>
            </a:endParaRP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07504" y="590031"/>
            <a:ext cx="8712968" cy="3997944"/>
          </a:xfrm>
          <a:prstGeom prst="rect">
            <a:avLst/>
          </a:prstGeom>
        </p:spPr>
        <p:txBody>
          <a:bodyPr wrap="square" anchor="t" anchorCtr="0">
            <a:noAutofit/>
          </a:bodyPr>
          <a:lstStyle/>
          <a:p>
            <a:pPr marL="342900" indent="-342900" algn="just">
              <a:buFont typeface="Wingdings" pitchFamily="2" charset="2"/>
              <a:buChar char="Ø"/>
            </a:pPr>
            <a:endParaRPr lang="en-IN" sz="1800" b="1">
              <a:solidFill>
                <a:srgbClr val="C00000"/>
              </a:solidFill>
              <a:latin typeface="Verdana"/>
              <a:ea typeface="ＭＳ Ｐゴシック" charset="0"/>
            </a:endParaRPr>
          </a:p>
        </p:txBody>
      </p:sp>
      <p:sp>
        <p:nvSpPr>
          <p:cNvPr id="3" name="TextBox 2">
            <a:extLst>
              <a:ext uri="{FF2B5EF4-FFF2-40B4-BE49-F238E27FC236}">
                <a16:creationId xmlns:a16="http://schemas.microsoft.com/office/drawing/2014/main" xmlns="" id="{F8CEDAA5-B915-5A5F-9723-4C77DABB7E9C}"/>
              </a:ext>
            </a:extLst>
          </p:cNvPr>
          <p:cNvSpPr txBox="1"/>
          <p:nvPr/>
        </p:nvSpPr>
        <p:spPr>
          <a:xfrm>
            <a:off x="395536" y="627534"/>
            <a:ext cx="8336668" cy="3785652"/>
          </a:xfrm>
          <a:prstGeom prst="rect">
            <a:avLst/>
          </a:prstGeom>
          <a:noFill/>
        </p:spPr>
        <p:txBody>
          <a:bodyPr wrap="square" rtlCol="0">
            <a:spAutoFit/>
          </a:bodyPr>
          <a:lstStyle/>
          <a:p>
            <a:pPr algn="just"/>
            <a:r>
              <a:rPr lang="en-GB" sz="2000" dirty="0" smtClean="0"/>
              <a:t>    </a:t>
            </a:r>
          </a:p>
          <a:p>
            <a:pPr algn="just"/>
            <a:r>
              <a:rPr lang="en-GB" sz="2000" dirty="0" smtClean="0"/>
              <a:t> </a:t>
            </a:r>
            <a:r>
              <a:rPr lang="en-GB" sz="2000" dirty="0" smtClean="0"/>
              <a:t>   Once </a:t>
            </a:r>
            <a:r>
              <a:rPr lang="en-GB" sz="2000" dirty="0" smtClean="0"/>
              <a:t>powered on, the device will detect high amplitude vibrations in whatever surface it is attached to and save them to its EEPROM chip</a:t>
            </a:r>
            <a:r>
              <a:rPr lang="en-GB" sz="2000" dirty="0" smtClean="0"/>
              <a:t>.</a:t>
            </a:r>
            <a:r>
              <a:rPr lang="en-GB" sz="2000" dirty="0" smtClean="0"/>
              <a:t> The </a:t>
            </a:r>
            <a:r>
              <a:rPr lang="en-GB" sz="2000" dirty="0" smtClean="0"/>
              <a:t>device reads </a:t>
            </a:r>
            <a:r>
              <a:rPr lang="en-GB" sz="2000" dirty="0" smtClean="0"/>
              <a:t>the Z axis acceleration value which aligns with an up/down vector. As the device operates, it keeps track of a rolling mean of the previous 1s of </a:t>
            </a:r>
            <a:r>
              <a:rPr lang="en-GB" sz="2000" dirty="0" smtClean="0"/>
              <a:t>data </a:t>
            </a:r>
            <a:r>
              <a:rPr lang="en-GB" sz="2000" dirty="0" smtClean="0"/>
              <a:t>and can compare its current Z-axis acceleration value with that moving average. When the amplitude of the difference between the current value and the current moving average is beyond a certain </a:t>
            </a:r>
            <a:r>
              <a:rPr lang="en-GB" sz="2000" dirty="0" smtClean="0"/>
              <a:t>threshold, </a:t>
            </a:r>
            <a:r>
              <a:rPr lang="en-GB" sz="2000" dirty="0" smtClean="0"/>
              <a:t>the detection code is </a:t>
            </a:r>
            <a:r>
              <a:rPr lang="en-GB" sz="2000" dirty="0" smtClean="0"/>
              <a:t>triggered. Based </a:t>
            </a:r>
            <a:r>
              <a:rPr lang="en-GB" sz="2000" dirty="0" smtClean="0"/>
              <a:t>on the following graph, the rolling mean of acceleration data allows the device to smooth out the noisy accelerometer data.</a:t>
            </a:r>
          </a:p>
          <a:p>
            <a:pPr algn="just"/>
            <a:endParaRPr lang="en-IN" sz="2000" b="1" dirty="0" smtClean="0">
              <a:solidFill>
                <a:srgbClr val="FF0000"/>
              </a:solidFill>
            </a:endParaRPr>
          </a:p>
          <a:p>
            <a:pPr algn="just"/>
            <a:endParaRPr lang="en-IN" sz="2000" b="1" dirty="0">
              <a:solidFill>
                <a:srgbClr val="FF0000"/>
              </a:solidFill>
            </a:endParaRPr>
          </a:p>
        </p:txBody>
      </p:sp>
    </p:spTree>
    <p:custDataLst>
      <p:tags r:id="rId1"/>
    </p:custDataLst>
    <p:extLst>
      <p:ext uri="{BB962C8B-B14F-4D97-AF65-F5344CB8AC3E}">
        <p14:creationId xmlns:p14="http://schemas.microsoft.com/office/powerpoint/2010/main" xmlns="" val="1284705433"/>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17</a:t>
            </a:fld>
            <a:endParaRPr lang="en-IN">
              <a:solidFill>
                <a:prstClr val="black">
                  <a:tint val="75000"/>
                </a:prstClr>
              </a:solidFill>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AB8B51-3CDD-4C9E-B9E8-6B6019A3C331}"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9"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0"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1" name="TextBox 10"/>
          <p:cNvSpPr txBox="1"/>
          <p:nvPr/>
        </p:nvSpPr>
        <p:spPr>
          <a:xfrm>
            <a:off x="107504" y="61102"/>
            <a:ext cx="8336668" cy="461665"/>
          </a:xfrm>
          <a:prstGeom prst="rect">
            <a:avLst/>
          </a:prstGeom>
          <a:noFill/>
        </p:spPr>
        <p:txBody>
          <a:bodyPr wrap="square" rtlCol="0">
            <a:spAutoFit/>
          </a:bodyPr>
          <a:lstStyle/>
          <a:p>
            <a:r>
              <a:rPr lang="en-IN" sz="2400" b="1" dirty="0" smtClean="0">
                <a:solidFill>
                  <a:srgbClr val="FF0000"/>
                </a:solidFill>
              </a:rPr>
              <a:t>Module Implementation</a:t>
            </a:r>
            <a:endParaRPr lang="en-US" sz="2400" b="1" dirty="0">
              <a:solidFill>
                <a:srgbClr val="FF0000"/>
              </a:solidFill>
            </a:endParaRPr>
          </a:p>
        </p:txBody>
      </p:sp>
      <p:pic>
        <p:nvPicPr>
          <p:cNvPr id="12"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ectangle 12"/>
          <p:cNvSpPr/>
          <p:nvPr/>
        </p:nvSpPr>
        <p:spPr>
          <a:xfrm>
            <a:off x="107504" y="590031"/>
            <a:ext cx="8712968" cy="3997944"/>
          </a:xfrm>
          <a:prstGeom prst="rect">
            <a:avLst/>
          </a:prstGeom>
        </p:spPr>
        <p:txBody>
          <a:bodyPr wrap="square" anchor="t" anchorCtr="0">
            <a:noAutofit/>
          </a:bodyPr>
          <a:lstStyle/>
          <a:p>
            <a:pPr marL="342900" indent="-342900" algn="just">
              <a:buFont typeface="Wingdings" pitchFamily="2" charset="2"/>
              <a:buChar char="Ø"/>
            </a:pPr>
            <a:endParaRPr lang="en-IN" sz="1800" b="1">
              <a:solidFill>
                <a:srgbClr val="C00000"/>
              </a:solidFill>
              <a:latin typeface="Verdana"/>
              <a:ea typeface="ＭＳ Ｐゴシック" charset="0"/>
            </a:endParaRPr>
          </a:p>
        </p:txBody>
      </p:sp>
      <p:pic>
        <p:nvPicPr>
          <p:cNvPr id="1026" name="Picture 2" descr="https://hackster.imgix.net/uploads/attachments/940011/rawwithmean_hzZxJFrg6D.png?auto=compress%2Cformat&amp;w=740&amp;h=555&amp;fit=max"/>
          <p:cNvPicPr>
            <a:picLocks noChangeAspect="1" noChangeArrowheads="1"/>
          </p:cNvPicPr>
          <p:nvPr/>
        </p:nvPicPr>
        <p:blipFill>
          <a:blip r:embed="rId5" cstate="print"/>
          <a:srcRect/>
          <a:stretch>
            <a:fillRect/>
          </a:stretch>
        </p:blipFill>
        <p:spPr bwMode="auto">
          <a:xfrm>
            <a:off x="1115616" y="1203598"/>
            <a:ext cx="7048500" cy="3086101"/>
          </a:xfrm>
          <a:prstGeom prst="rect">
            <a:avLst/>
          </a:prstGeom>
          <a:noFill/>
        </p:spPr>
      </p:pic>
      <p:sp>
        <p:nvSpPr>
          <p:cNvPr id="16" name="TextBox 15"/>
          <p:cNvSpPr txBox="1"/>
          <p:nvPr/>
        </p:nvSpPr>
        <p:spPr>
          <a:xfrm>
            <a:off x="539552" y="915566"/>
            <a:ext cx="2645468" cy="353943"/>
          </a:xfrm>
          <a:prstGeom prst="rect">
            <a:avLst/>
          </a:prstGeom>
          <a:noFill/>
        </p:spPr>
        <p:txBody>
          <a:bodyPr wrap="none" rtlCol="0">
            <a:spAutoFit/>
          </a:bodyPr>
          <a:lstStyle/>
          <a:p>
            <a:r>
              <a:rPr lang="en-IN" b="1" dirty="0" smtClean="0">
                <a:solidFill>
                  <a:srgbClr val="FF0000"/>
                </a:solidFill>
              </a:rPr>
              <a:t>Acceleration Data Readings</a:t>
            </a:r>
            <a:endParaRPr lang="en-US" b="1"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18</a:t>
            </a:fld>
            <a:endParaRPr lang="en-IN">
              <a:solidFill>
                <a:prstClr val="black">
                  <a:tint val="75000"/>
                </a:prstClr>
              </a:solidFill>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AB8B51-3CDD-4C9E-B9E8-6B6019A3C331}"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9"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0"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1" name="TextBox 10"/>
          <p:cNvSpPr txBox="1"/>
          <p:nvPr/>
        </p:nvSpPr>
        <p:spPr>
          <a:xfrm>
            <a:off x="107504" y="61102"/>
            <a:ext cx="8336668" cy="461665"/>
          </a:xfrm>
          <a:prstGeom prst="rect">
            <a:avLst/>
          </a:prstGeom>
          <a:noFill/>
        </p:spPr>
        <p:txBody>
          <a:bodyPr wrap="square" rtlCol="0">
            <a:spAutoFit/>
          </a:bodyPr>
          <a:lstStyle/>
          <a:p>
            <a:r>
              <a:rPr lang="en-IN" sz="2400" b="1" dirty="0" smtClean="0">
                <a:solidFill>
                  <a:srgbClr val="FF0000"/>
                </a:solidFill>
              </a:rPr>
              <a:t>Module Implementation</a:t>
            </a:r>
            <a:endParaRPr lang="en-US" sz="2400" b="1" dirty="0">
              <a:solidFill>
                <a:srgbClr val="FF0000"/>
              </a:solidFill>
            </a:endParaRPr>
          </a:p>
        </p:txBody>
      </p:sp>
      <p:pic>
        <p:nvPicPr>
          <p:cNvPr id="12"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ectangle 12"/>
          <p:cNvSpPr/>
          <p:nvPr/>
        </p:nvSpPr>
        <p:spPr>
          <a:xfrm>
            <a:off x="107504" y="590031"/>
            <a:ext cx="8712968" cy="3997944"/>
          </a:xfrm>
          <a:prstGeom prst="rect">
            <a:avLst/>
          </a:prstGeom>
        </p:spPr>
        <p:txBody>
          <a:bodyPr wrap="square" anchor="t" anchorCtr="0">
            <a:noAutofit/>
          </a:bodyPr>
          <a:lstStyle/>
          <a:p>
            <a:pPr marL="342900" indent="-342900" algn="just">
              <a:buFont typeface="Wingdings" pitchFamily="2" charset="2"/>
              <a:buChar char="Ø"/>
            </a:pPr>
            <a:endParaRPr lang="en-IN" sz="1800" b="1">
              <a:solidFill>
                <a:srgbClr val="C00000"/>
              </a:solidFill>
              <a:latin typeface="Verdana"/>
              <a:ea typeface="ＭＳ Ｐゴシック" charset="0"/>
            </a:endParaRPr>
          </a:p>
        </p:txBody>
      </p:sp>
      <p:sp>
        <p:nvSpPr>
          <p:cNvPr id="14" name="TextBox 13">
            <a:extLst>
              <a:ext uri="{FF2B5EF4-FFF2-40B4-BE49-F238E27FC236}">
                <a16:creationId xmlns:a16="http://schemas.microsoft.com/office/drawing/2014/main" xmlns="" id="{F8CEDAA5-B915-5A5F-9723-4C77DABB7E9C}"/>
              </a:ext>
            </a:extLst>
          </p:cNvPr>
          <p:cNvSpPr txBox="1"/>
          <p:nvPr/>
        </p:nvSpPr>
        <p:spPr>
          <a:xfrm>
            <a:off x="395536" y="627534"/>
            <a:ext cx="8336668" cy="923330"/>
          </a:xfrm>
          <a:prstGeom prst="rect">
            <a:avLst/>
          </a:prstGeom>
          <a:noFill/>
        </p:spPr>
        <p:txBody>
          <a:bodyPr wrap="square" rtlCol="0">
            <a:spAutoFit/>
          </a:bodyPr>
          <a:lstStyle/>
          <a:p>
            <a:pPr algn="just"/>
            <a:r>
              <a:rPr lang="en-GB" sz="1800" dirty="0" smtClean="0"/>
              <a:t>The following graph shows the absolute value of the difference between the measured accelerometer value and the current value of the rolling mean. Whenever a sample rises above the threshold line of 0.17G's, the detector has detected a bump in the road.</a:t>
            </a:r>
            <a:endParaRPr lang="en-IN" sz="1800" b="1" dirty="0">
              <a:solidFill>
                <a:srgbClr val="FF0000"/>
              </a:solidFill>
            </a:endParaRPr>
          </a:p>
        </p:txBody>
      </p:sp>
      <p:pic>
        <p:nvPicPr>
          <p:cNvPr id="39938" name="Picture 2" descr="https://hackster.imgix.net/uploads/attachments/940014/amplitudewiththreshold_cU57co1lu1.png?auto=compress%2Cformat&amp;w=740&amp;h=555&amp;fit=max"/>
          <p:cNvPicPr>
            <a:picLocks noChangeAspect="1" noChangeArrowheads="1"/>
          </p:cNvPicPr>
          <p:nvPr/>
        </p:nvPicPr>
        <p:blipFill>
          <a:blip r:embed="rId5" cstate="print"/>
          <a:srcRect/>
          <a:stretch>
            <a:fillRect/>
          </a:stretch>
        </p:blipFill>
        <p:spPr bwMode="auto">
          <a:xfrm>
            <a:off x="1259632" y="1491630"/>
            <a:ext cx="7048500" cy="3114676"/>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19</a:t>
            </a:fld>
            <a:endParaRPr lang="en-IN">
              <a:solidFill>
                <a:prstClr val="black">
                  <a:tint val="75000"/>
                </a:prstClr>
              </a:solidFill>
            </a:endParaRPr>
          </a:p>
        </p:txBody>
      </p:sp>
      <p:pic>
        <p:nvPicPr>
          <p:cNvPr id="5"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6"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7"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AB8B51-3CDD-4C9E-B9E8-6B6019A3C331}"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9"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0"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1" name="TextBox 10"/>
          <p:cNvSpPr txBox="1"/>
          <p:nvPr/>
        </p:nvSpPr>
        <p:spPr>
          <a:xfrm>
            <a:off x="107504" y="61102"/>
            <a:ext cx="8336668" cy="461665"/>
          </a:xfrm>
          <a:prstGeom prst="rect">
            <a:avLst/>
          </a:prstGeom>
          <a:noFill/>
        </p:spPr>
        <p:txBody>
          <a:bodyPr wrap="square" rtlCol="0">
            <a:spAutoFit/>
          </a:bodyPr>
          <a:lstStyle/>
          <a:p>
            <a:r>
              <a:rPr lang="en-IN" sz="2400" b="1" dirty="0" smtClean="0">
                <a:solidFill>
                  <a:srgbClr val="FF0000"/>
                </a:solidFill>
              </a:rPr>
              <a:t>Module Implementation</a:t>
            </a:r>
            <a:endParaRPr lang="en-US" sz="2400" b="1" dirty="0">
              <a:solidFill>
                <a:srgbClr val="FF0000"/>
              </a:solidFill>
            </a:endParaRPr>
          </a:p>
        </p:txBody>
      </p:sp>
      <p:pic>
        <p:nvPicPr>
          <p:cNvPr id="12"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3" name="Rectangle 12"/>
          <p:cNvSpPr/>
          <p:nvPr/>
        </p:nvSpPr>
        <p:spPr>
          <a:xfrm>
            <a:off x="107504" y="590031"/>
            <a:ext cx="8712968" cy="3997944"/>
          </a:xfrm>
          <a:prstGeom prst="rect">
            <a:avLst/>
          </a:prstGeom>
        </p:spPr>
        <p:txBody>
          <a:bodyPr wrap="square" anchor="t" anchorCtr="0">
            <a:noAutofit/>
          </a:bodyPr>
          <a:lstStyle/>
          <a:p>
            <a:pPr marL="342900" indent="-342900" algn="just">
              <a:buFont typeface="Wingdings" pitchFamily="2" charset="2"/>
              <a:buChar char="Ø"/>
            </a:pPr>
            <a:endParaRPr lang="en-IN" sz="1800" b="1">
              <a:solidFill>
                <a:srgbClr val="C00000"/>
              </a:solidFill>
              <a:latin typeface="Verdana"/>
              <a:ea typeface="ＭＳ Ｐゴシック" charset="0"/>
            </a:endParaRPr>
          </a:p>
        </p:txBody>
      </p:sp>
      <p:sp>
        <p:nvSpPr>
          <p:cNvPr id="14" name="TextBox 13">
            <a:extLst>
              <a:ext uri="{FF2B5EF4-FFF2-40B4-BE49-F238E27FC236}">
                <a16:creationId xmlns:a16="http://schemas.microsoft.com/office/drawing/2014/main" xmlns="" id="{F8CEDAA5-B915-5A5F-9723-4C77DABB7E9C}"/>
              </a:ext>
            </a:extLst>
          </p:cNvPr>
          <p:cNvSpPr txBox="1"/>
          <p:nvPr/>
        </p:nvSpPr>
        <p:spPr>
          <a:xfrm>
            <a:off x="179512" y="699542"/>
            <a:ext cx="8856984" cy="3970318"/>
          </a:xfrm>
          <a:prstGeom prst="rect">
            <a:avLst/>
          </a:prstGeom>
          <a:noFill/>
        </p:spPr>
        <p:txBody>
          <a:bodyPr wrap="square" rtlCol="0">
            <a:spAutoFit/>
          </a:bodyPr>
          <a:lstStyle/>
          <a:p>
            <a:pPr algn="just"/>
            <a:r>
              <a:rPr lang="en-GB" sz="1800" dirty="0" smtClean="0"/>
              <a:t>     While </a:t>
            </a:r>
            <a:r>
              <a:rPr lang="en-GB" sz="1800" dirty="0" smtClean="0"/>
              <a:t>this threshold of 0.17G's may seem arbitrary, it is, in fact, not. In my initial test runs of this device, I had the </a:t>
            </a:r>
            <a:r>
              <a:rPr lang="en-GB" sz="1800" dirty="0" smtClean="0"/>
              <a:t>device </a:t>
            </a:r>
            <a:r>
              <a:rPr lang="en-GB" sz="1800" dirty="0" smtClean="0"/>
              <a:t>directly connected to a laptop which was saving the raw data the device measured. While driving, I mounted a button on the device that would mark what I believed to be a significant bump in the road. After a test drive of collecting data, I could later review the data and graph it based on Latitude and Longitude, drawing markers at where it detected bumps in the road. I could then modify the threshold to produce the fewest false-positives and the most </a:t>
            </a:r>
            <a:r>
              <a:rPr lang="en-GB" sz="1800" dirty="0" smtClean="0"/>
              <a:t>true-positives. Below figure shows </a:t>
            </a:r>
            <a:r>
              <a:rPr lang="en-GB" sz="1800" dirty="0" smtClean="0"/>
              <a:t>like quite a few possibly hazardous locations, and that would be exactly correct. Based on these results, this device can successfully identify the locations of hazardous, uneven, and significantly rough roads, increasing public awareness of road conditions and enabling the faster repair of these dangerous </a:t>
            </a:r>
            <a:r>
              <a:rPr lang="en-GB" sz="1800" dirty="0" smtClean="0"/>
              <a:t>roads. After </a:t>
            </a:r>
            <a:r>
              <a:rPr lang="en-GB" sz="1800" dirty="0" smtClean="0"/>
              <a:t>being powered on again, the device will attempt to communicate over Wi-Fi with </a:t>
            </a:r>
            <a:r>
              <a:rPr lang="en-GB" sz="1800" dirty="0" smtClean="0"/>
              <a:t>the</a:t>
            </a:r>
            <a:r>
              <a:rPr lang="en-GB" sz="1800" dirty="0" smtClean="0"/>
              <a:t> Python script to upload its readings to the </a:t>
            </a:r>
            <a:r>
              <a:rPr lang="en-GB" sz="1800" dirty="0" err="1" smtClean="0"/>
              <a:t>Firestore</a:t>
            </a:r>
            <a:r>
              <a:rPr lang="en-GB" sz="1800" dirty="0" smtClean="0"/>
              <a:t> Database</a:t>
            </a:r>
            <a:r>
              <a:rPr lang="en-GB" sz="1800" dirty="0" smtClean="0"/>
              <a:t>. </a:t>
            </a:r>
            <a:r>
              <a:rPr lang="en-GB" sz="1800" dirty="0" smtClean="0"/>
              <a:t>The ease of access the </a:t>
            </a:r>
            <a:r>
              <a:rPr lang="en-GB" sz="1800" dirty="0" err="1" smtClean="0"/>
              <a:t>Firestore</a:t>
            </a:r>
            <a:r>
              <a:rPr lang="en-GB" sz="1800" dirty="0" smtClean="0"/>
              <a:t> database provides would enable a massive fleet of these devices to report the locations of hazardous roads all around the world </a:t>
            </a:r>
            <a:r>
              <a:rPr lang="en-GB" sz="1800" dirty="0" smtClean="0"/>
              <a:t>automatically.</a:t>
            </a:r>
            <a:endParaRPr lang="en-GB" sz="1800" dirty="0" smtClean="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79AEC7-E2B8-4E1E-BEFB-95F485C05AD7}" type="datetime1">
              <a:rPr lang="en-IN" smtClean="0">
                <a:solidFill>
                  <a:prstClr val="black">
                    <a:tint val="75000"/>
                  </a:prstClr>
                </a:solidFill>
              </a:rPr>
              <a:pPr/>
              <a:t>28-04-2023</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smtClean="0">
                <a:solidFill>
                  <a:prstClr val="black">
                    <a:tint val="75000"/>
                  </a:prstClr>
                </a:solidFill>
              </a:rPr>
              <a:t>Computer Science and Engineering, Nehru Institute of Engineering and Technology</a:t>
            </a: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77DD58CB-5C75-4AB0-B097-2BE57FD99A99}" type="slidenum">
              <a:rPr lang="en-IN" smtClean="0">
                <a:solidFill>
                  <a:prstClr val="black">
                    <a:tint val="75000"/>
                  </a:prstClr>
                </a:solidFill>
              </a:rPr>
              <a:pPr/>
              <a:t>20</a:t>
            </a:fld>
            <a:endParaRPr lang="en-IN">
              <a:solidFill>
                <a:prstClr val="black">
                  <a:tint val="75000"/>
                </a:prstClr>
              </a:solidFill>
            </a:endParaRPr>
          </a:p>
        </p:txBody>
      </p:sp>
      <p:sp>
        <p:nvSpPr>
          <p:cNvPr id="5" name="Date Placeholder 1"/>
          <p:cNvSpPr txBox="1">
            <a:spLocks/>
          </p:cNvSpPr>
          <p:nvPr/>
        </p:nvSpPr>
        <p:spPr>
          <a:xfrm>
            <a:off x="457201" y="4767270"/>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79AEC7-E2B8-4E1E-BEFB-95F485C05AD7}" type="datetime1">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6" name="Footer Placeholder 2"/>
          <p:cNvSpPr txBox="1">
            <a:spLocks/>
          </p:cNvSpPr>
          <p:nvPr/>
        </p:nvSpPr>
        <p:spPr>
          <a:xfrm>
            <a:off x="3124201" y="4767270"/>
            <a:ext cx="2895600"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sp>
        <p:nvSpPr>
          <p:cNvPr id="7" name="Slide Number Placeholder 3"/>
          <p:cNvSpPr txBox="1">
            <a:spLocks/>
          </p:cNvSpPr>
          <p:nvPr/>
        </p:nvSpPr>
        <p:spPr>
          <a:xfrm>
            <a:off x="6553201" y="476727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prstClr val="black">
                    <a:tint val="75000"/>
                  </a:prstClr>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tint val="75000"/>
                </a:prstClr>
              </a:solidFill>
              <a:effectLst/>
              <a:uLnTx/>
              <a:uFillTx/>
              <a:latin typeface="+mn-lt"/>
              <a:ea typeface="+mn-ea"/>
              <a:cs typeface="+mn-cs"/>
            </a:endParaRPr>
          </a:p>
        </p:txBody>
      </p:sp>
      <p:pic>
        <p:nvPicPr>
          <p:cNvPr id="8" name="Picture 7"/>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9"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1" name="Date Placeholder 8"/>
          <p:cNvSpPr txBox="1">
            <a:spLocks/>
          </p:cNvSpPr>
          <p:nvPr/>
        </p:nvSpPr>
        <p:spPr>
          <a:xfrm>
            <a:off x="73000" y="4826814"/>
            <a:ext cx="2133600" cy="273842"/>
          </a:xfrm>
          <a:prstGeom prst="rect">
            <a:avLst/>
          </a:prstGeom>
        </p:spPr>
        <p:txBody>
          <a:bodyPr vert="horz" lIns="90193" tIns="45096" rIns="90193" bIns="45096" rtlCol="0" anchor="ctr"/>
          <a:lstStyle/>
          <a:p>
            <a:pPr marL="0" marR="0" lvl="0" indent="0" algn="l" defTabSz="901927" rtl="0" eaLnBrk="1" fontAlgn="auto" latinLnBrk="0" hangingPunct="1">
              <a:lnSpc>
                <a:spcPct val="100000"/>
              </a:lnSpc>
              <a:spcBef>
                <a:spcPts val="0"/>
              </a:spcBef>
              <a:spcAft>
                <a:spcPts val="0"/>
              </a:spcAft>
              <a:buClrTx/>
              <a:buSzTx/>
              <a:buFontTx/>
              <a:buNone/>
              <a:tabLst/>
              <a:defRPr/>
            </a:pPr>
            <a:fld id="{EDAB8B51-3CDD-4C9E-B9E8-6B6019A3C331}" type="datetime1">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l" defTabSz="901927" rtl="0" eaLnBrk="1" fontAlgn="auto" latinLnBrk="0" hangingPunct="1">
                <a:lnSpc>
                  <a:spcPct val="100000"/>
                </a:lnSpc>
                <a:spcBef>
                  <a:spcPts val="0"/>
                </a:spcBef>
                <a:spcAft>
                  <a:spcPts val="0"/>
                </a:spcAft>
                <a:buClrTx/>
                <a:buSzTx/>
                <a:buFontTx/>
                <a:buNone/>
                <a:tabLst/>
                <a:defRPr/>
              </a:pPr>
              <a:t>28-04-2023</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2" name="Footer Placeholder 9"/>
          <p:cNvSpPr txBox="1">
            <a:spLocks/>
          </p:cNvSpPr>
          <p:nvPr/>
        </p:nvSpPr>
        <p:spPr>
          <a:xfrm>
            <a:off x="1403648" y="4818188"/>
            <a:ext cx="6912768" cy="273842"/>
          </a:xfrm>
          <a:prstGeom prst="rect">
            <a:avLst/>
          </a:prstGeom>
        </p:spPr>
        <p:txBody>
          <a:bodyPr vert="horz" lIns="90193" tIns="45096" rIns="90193" bIns="45096" rtlCol="0" anchor="ctr"/>
          <a:lstStyle/>
          <a:p>
            <a:pPr marL="0" marR="0" lvl="0" indent="0" algn="ctr" defTabSz="90192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rgbClr val="000099"/>
                </a:solidFill>
                <a:effectLst/>
                <a:uLnTx/>
                <a:uFillTx/>
                <a:latin typeface="+mn-lt"/>
                <a:ea typeface="+mn-ea"/>
                <a:cs typeface="+mn-cs"/>
              </a:rPr>
              <a:t>Computer Science and Engineering, Nehru Institute of Engineering and Technology</a:t>
            </a:r>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3" name="Slide Number Placeholder 11"/>
          <p:cNvSpPr txBox="1">
            <a:spLocks/>
          </p:cNvSpPr>
          <p:nvPr/>
        </p:nvSpPr>
        <p:spPr>
          <a:xfrm>
            <a:off x="6889615" y="4835440"/>
            <a:ext cx="2133600" cy="273842"/>
          </a:xfrm>
          <a:prstGeom prst="rect">
            <a:avLst/>
          </a:prstGeom>
        </p:spPr>
        <p:txBody>
          <a:bodyPr vert="horz" lIns="90193" tIns="45096" rIns="90193" bIns="45096" rtlCol="0" anchor="ctr"/>
          <a:lstStyle/>
          <a:p>
            <a:pPr marL="0" marR="0" lvl="0" indent="0" algn="r" defTabSz="901927" rtl="0" eaLnBrk="1" fontAlgn="auto" latinLnBrk="0" hangingPunct="1">
              <a:lnSpc>
                <a:spcPct val="100000"/>
              </a:lnSpc>
              <a:spcBef>
                <a:spcPts val="0"/>
              </a:spcBef>
              <a:spcAft>
                <a:spcPts val="0"/>
              </a:spcAft>
              <a:buClrTx/>
              <a:buSzTx/>
              <a:buFontTx/>
              <a:buNone/>
              <a:tabLst/>
              <a:defRPr/>
            </a:pPr>
            <a:fld id="{77DD58CB-5C75-4AB0-B097-2BE57FD99A99}" type="slidenum">
              <a:rPr kumimoji="0" lang="en-IN" sz="1200" b="0" i="0" u="none" strike="noStrike" kern="1200" cap="none" spc="0" normalizeH="0" baseline="0" noProof="0" smtClean="0">
                <a:ln>
                  <a:noFill/>
                </a:ln>
                <a:solidFill>
                  <a:srgbClr val="000099"/>
                </a:solidFill>
                <a:effectLst/>
                <a:uLnTx/>
                <a:uFillTx/>
                <a:latin typeface="+mn-lt"/>
                <a:ea typeface="+mn-ea"/>
                <a:cs typeface="+mn-cs"/>
              </a:rPr>
              <a:pPr marL="0" marR="0" lvl="0" indent="0" algn="r" defTabSz="901927"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srgbClr val="000099"/>
              </a:solidFill>
              <a:effectLst/>
              <a:uLnTx/>
              <a:uFillTx/>
              <a:latin typeface="+mn-lt"/>
              <a:ea typeface="+mn-ea"/>
              <a:cs typeface="+mn-cs"/>
            </a:endParaRPr>
          </a:p>
        </p:txBody>
      </p:sp>
      <p:sp>
        <p:nvSpPr>
          <p:cNvPr id="14" name="TextBox 13"/>
          <p:cNvSpPr txBox="1"/>
          <p:nvPr/>
        </p:nvSpPr>
        <p:spPr>
          <a:xfrm>
            <a:off x="107504" y="61102"/>
            <a:ext cx="8336668" cy="461665"/>
          </a:xfrm>
          <a:prstGeom prst="rect">
            <a:avLst/>
          </a:prstGeom>
          <a:noFill/>
        </p:spPr>
        <p:txBody>
          <a:bodyPr wrap="square" rtlCol="0">
            <a:spAutoFit/>
          </a:bodyPr>
          <a:lstStyle/>
          <a:p>
            <a:r>
              <a:rPr lang="en-IN" sz="2400" b="1" dirty="0" smtClean="0">
                <a:solidFill>
                  <a:srgbClr val="FF0000"/>
                </a:solidFill>
              </a:rPr>
              <a:t>Sample Output</a:t>
            </a:r>
            <a:endParaRPr lang="en-US" sz="2400" b="1" dirty="0">
              <a:solidFill>
                <a:srgbClr val="FF0000"/>
              </a:solidFill>
            </a:endParaRPr>
          </a:p>
        </p:txBody>
      </p:sp>
      <p:pic>
        <p:nvPicPr>
          <p:cNvPr id="15" name="Picture 5"/>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6" name="Rectangle 15"/>
          <p:cNvSpPr/>
          <p:nvPr/>
        </p:nvSpPr>
        <p:spPr>
          <a:xfrm>
            <a:off x="107504" y="590031"/>
            <a:ext cx="8712968" cy="3997944"/>
          </a:xfrm>
          <a:prstGeom prst="rect">
            <a:avLst/>
          </a:prstGeom>
        </p:spPr>
        <p:txBody>
          <a:bodyPr wrap="square" anchor="t" anchorCtr="0">
            <a:noAutofit/>
          </a:bodyPr>
          <a:lstStyle/>
          <a:p>
            <a:pPr marL="342900" indent="-342900" algn="just">
              <a:buFont typeface="Wingdings" pitchFamily="2" charset="2"/>
              <a:buChar char="Ø"/>
            </a:pPr>
            <a:endParaRPr lang="en-IN" sz="1800" b="1">
              <a:solidFill>
                <a:srgbClr val="C00000"/>
              </a:solidFill>
              <a:latin typeface="Verdana"/>
              <a:ea typeface="ＭＳ Ｐゴシック" charset="0"/>
            </a:endParaRPr>
          </a:p>
        </p:txBody>
      </p:sp>
      <p:pic>
        <p:nvPicPr>
          <p:cNvPr id="40964" name="Picture 4" descr="https://hackster.imgix.net/uploads/attachments/940022/detectedbumpsmap_Jqg1g0AgLN.png?auto=compress%2Cformat&amp;w=740&amp;h=555&amp;fit=max"/>
          <p:cNvPicPr>
            <a:picLocks noChangeAspect="1" noChangeArrowheads="1"/>
          </p:cNvPicPr>
          <p:nvPr/>
        </p:nvPicPr>
        <p:blipFill>
          <a:blip r:embed="rId5" cstate="print"/>
          <a:srcRect t="6811" b="8736"/>
          <a:stretch>
            <a:fillRect/>
          </a:stretch>
        </p:blipFill>
        <p:spPr bwMode="auto">
          <a:xfrm>
            <a:off x="3419872" y="555526"/>
            <a:ext cx="2281084" cy="4176464"/>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B7F6B58E-67AD-47F5-BCFC-698F1D259354}"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21</a:t>
            </a:fld>
            <a:endParaRPr lang="en-IN">
              <a:solidFill>
                <a:srgbClr val="000099"/>
              </a:solidFill>
            </a:endParaRPr>
          </a:p>
        </p:txBody>
      </p:sp>
      <p:sp>
        <p:nvSpPr>
          <p:cNvPr id="15" name="TextBox 14"/>
          <p:cNvSpPr txBox="1"/>
          <p:nvPr/>
        </p:nvSpPr>
        <p:spPr>
          <a:xfrm>
            <a:off x="90252" y="-4275"/>
            <a:ext cx="8336668" cy="461665"/>
          </a:xfrm>
          <a:prstGeom prst="rect">
            <a:avLst/>
          </a:prstGeom>
          <a:noFill/>
        </p:spPr>
        <p:txBody>
          <a:bodyPr wrap="square" rtlCol="0">
            <a:spAutoFit/>
          </a:bodyPr>
          <a:lstStyle/>
          <a:p>
            <a:r>
              <a:rPr lang="en-US" sz="2400" b="1">
                <a:solidFill>
                  <a:srgbClr val="FF0000"/>
                </a:solidFill>
              </a:rPr>
              <a:t>Conclusion</a:t>
            </a: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79512" y="555527"/>
            <a:ext cx="8712968" cy="4176464"/>
          </a:xfrm>
          <a:prstGeom prst="rect">
            <a:avLst/>
          </a:prstGeom>
        </p:spPr>
        <p:txBody>
          <a:bodyPr wrap="square" anchor="t" anchorCtr="0">
            <a:noAutofit/>
          </a:bodyPr>
          <a:lstStyle/>
          <a:p>
            <a:pPr algn="just"/>
            <a:r>
              <a:rPr lang="en-GB" sz="1900" dirty="0" smtClean="0"/>
              <a:t>  This </a:t>
            </a:r>
            <a:r>
              <a:rPr lang="en-GB" sz="1900" dirty="0" smtClean="0"/>
              <a:t>paper investigates on the feasibility of </a:t>
            </a:r>
            <a:r>
              <a:rPr lang="en-GB" sz="1900" dirty="0" smtClean="0"/>
              <a:t>an </a:t>
            </a:r>
            <a:r>
              <a:rPr lang="en-GB" sz="1900" dirty="0" smtClean="0"/>
              <a:t>road surface quality control in terms of surface anomalies detection by means of sensor </a:t>
            </a:r>
            <a:r>
              <a:rPr lang="en-GB" sz="1900" dirty="0" smtClean="0"/>
              <a:t>devices. </a:t>
            </a:r>
            <a:r>
              <a:rPr lang="en-GB" sz="1900" dirty="0" smtClean="0"/>
              <a:t>The algorithm developed to detect road bumps and potholes was based on the analysis of the vertical acceleration </a:t>
            </a:r>
            <a:r>
              <a:rPr lang="en-GB" sz="1900" dirty="0" smtClean="0"/>
              <a:t>impulse. The </a:t>
            </a:r>
            <a:r>
              <a:rPr lang="en-GB" sz="1900" dirty="0" smtClean="0"/>
              <a:t>temporal derivative of the acceleration absolute amplitude in one second that was calculated as the difference between the maximum and the minimum value in the defined unit of time. The vertical acceleration </a:t>
            </a:r>
            <a:r>
              <a:rPr lang="en-GB" sz="1900" dirty="0" smtClean="0"/>
              <a:t>impulse </a:t>
            </a:r>
            <a:r>
              <a:rPr lang="en-GB" sz="1900" dirty="0" smtClean="0"/>
              <a:t>corresponds to a high-energy event, that is labelled as an </a:t>
            </a:r>
            <a:r>
              <a:rPr lang="en-GB" sz="1900" dirty="0" smtClean="0"/>
              <a:t>“Hazardous Location” </a:t>
            </a:r>
            <a:r>
              <a:rPr lang="en-GB" sz="1900" dirty="0" smtClean="0"/>
              <a:t>on the road surface</a:t>
            </a:r>
            <a:r>
              <a:rPr lang="en-GB" sz="1900" dirty="0" smtClean="0"/>
              <a:t>. </a:t>
            </a:r>
            <a:r>
              <a:rPr lang="en-GB" sz="1900" dirty="0" smtClean="0"/>
              <a:t>In order to better understand how the acceleration signal monitored by means of </a:t>
            </a:r>
            <a:r>
              <a:rPr lang="en-GB" sz="1900" dirty="0" smtClean="0"/>
              <a:t>the device </a:t>
            </a:r>
            <a:r>
              <a:rPr lang="en-GB" sz="1900" dirty="0" smtClean="0"/>
              <a:t>located inside the vehicle can be used to classify the road damage </a:t>
            </a:r>
            <a:r>
              <a:rPr lang="en-GB" sz="1900" dirty="0" smtClean="0"/>
              <a:t>severity. Results </a:t>
            </a:r>
            <a:r>
              <a:rPr lang="en-GB" sz="1900" dirty="0" smtClean="0"/>
              <a:t>showed that there was a linear relationship between the acceleration impulse and the </a:t>
            </a:r>
            <a:r>
              <a:rPr lang="en-GB" sz="1900" dirty="0" smtClean="0"/>
              <a:t>potholes.</a:t>
            </a:r>
          </a:p>
          <a:p>
            <a:pPr algn="just"/>
            <a:r>
              <a:rPr lang="en-GB" sz="1900" dirty="0" smtClean="0"/>
              <a:t>   Future </a:t>
            </a:r>
            <a:r>
              <a:rPr lang="en-GB" sz="1900" dirty="0" smtClean="0"/>
              <a:t>work will also address to the possibility of giving an useful tools to road maintenance operators for the monitoring of road quality and for a more adequate allocation of resources.</a:t>
            </a:r>
            <a:endParaRPr lang="en-IN" sz="1900" b="1" dirty="0">
              <a:solidFill>
                <a:srgbClr val="000066"/>
              </a:solidFill>
              <a:latin typeface="Verdana"/>
              <a:ea typeface="ＭＳ Ｐゴシック" charset="0"/>
            </a:endParaRPr>
          </a:p>
        </p:txBody>
      </p:sp>
    </p:spTree>
    <p:custDataLst>
      <p:tags r:id="rId1"/>
    </p:custDataLst>
    <p:extLst>
      <p:ext uri="{BB962C8B-B14F-4D97-AF65-F5344CB8AC3E}">
        <p14:creationId xmlns:p14="http://schemas.microsoft.com/office/powerpoint/2010/main" xmlns="" val="3079201232"/>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4C9885B7-9BC8-4C1C-AD2A-A95EB2813734}"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22</a:t>
            </a:fld>
            <a:endParaRPr lang="en-IN">
              <a:solidFill>
                <a:srgbClr val="000099"/>
              </a:solidFill>
            </a:endParaRPr>
          </a:p>
        </p:txBody>
      </p:sp>
      <p:sp>
        <p:nvSpPr>
          <p:cNvPr id="15" name="TextBox 14"/>
          <p:cNvSpPr txBox="1"/>
          <p:nvPr/>
        </p:nvSpPr>
        <p:spPr>
          <a:xfrm>
            <a:off x="90252" y="18915"/>
            <a:ext cx="8336668" cy="461665"/>
          </a:xfrm>
          <a:prstGeom prst="rect">
            <a:avLst/>
          </a:prstGeom>
          <a:noFill/>
        </p:spPr>
        <p:txBody>
          <a:bodyPr wrap="square" rtlCol="0">
            <a:spAutoFit/>
          </a:bodyPr>
          <a:lstStyle/>
          <a:p>
            <a:r>
              <a:rPr lang="en-US" sz="2400" b="1" dirty="0">
                <a:solidFill>
                  <a:srgbClr val="FF0000"/>
                </a:solidFill>
              </a:rPr>
              <a:t>References</a:t>
            </a:r>
          </a:p>
        </p:txBody>
      </p:sp>
      <p:pic>
        <p:nvPicPr>
          <p:cNvPr id="16" name="Picture 5"/>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Rectangle 1"/>
          <p:cNvSpPr/>
          <p:nvPr/>
        </p:nvSpPr>
        <p:spPr>
          <a:xfrm>
            <a:off x="179512" y="771550"/>
            <a:ext cx="8856984" cy="3744416"/>
          </a:xfrm>
          <a:prstGeom prst="rect">
            <a:avLst/>
          </a:prstGeom>
        </p:spPr>
        <p:txBody>
          <a:bodyPr wrap="square" anchor="t" anchorCtr="0">
            <a:noAutofit/>
          </a:bodyPr>
          <a:lstStyle/>
          <a:p>
            <a:pPr marL="542925" indent="-542925" algn="just" defTabSz="457200" fontAlgn="base">
              <a:spcBef>
                <a:spcPts val="400"/>
              </a:spcBef>
              <a:spcAft>
                <a:spcPct val="0"/>
              </a:spcAft>
              <a:buClr>
                <a:srgbClr val="C00000"/>
              </a:buClr>
              <a:buSzPct val="99000"/>
              <a:buFont typeface="+mj-lt"/>
              <a:buAutoNum type="arabicPeriod"/>
            </a:pPr>
            <a:r>
              <a:rPr lang="en-US" sz="1800" dirty="0" err="1" smtClean="0"/>
              <a:t>Astarita</a:t>
            </a:r>
            <a:r>
              <a:rPr lang="en-US" sz="1800" dirty="0" smtClean="0"/>
              <a:t>, V., Caruso, M.V., </a:t>
            </a:r>
            <a:r>
              <a:rPr lang="en-US" sz="1800" dirty="0" err="1" smtClean="0"/>
              <a:t>Danieli</a:t>
            </a:r>
            <a:r>
              <a:rPr lang="en-US" sz="1800" dirty="0" smtClean="0"/>
              <a:t>, G., </a:t>
            </a:r>
            <a:r>
              <a:rPr lang="en-US" sz="1800" dirty="0" err="1" smtClean="0"/>
              <a:t>Festa</a:t>
            </a:r>
            <a:r>
              <a:rPr lang="en-US" sz="1800" dirty="0" smtClean="0"/>
              <a:t>, D.C., </a:t>
            </a:r>
            <a:r>
              <a:rPr lang="en-US" sz="1800" dirty="0" err="1" smtClean="0"/>
              <a:t>Giofrè</a:t>
            </a:r>
            <a:r>
              <a:rPr lang="en-US" sz="1800" dirty="0" smtClean="0"/>
              <a:t>, V.P., </a:t>
            </a:r>
            <a:r>
              <a:rPr lang="en-US" sz="1800" dirty="0" err="1" smtClean="0"/>
              <a:t>Iuele</a:t>
            </a:r>
            <a:r>
              <a:rPr lang="en-US" sz="1800" dirty="0" smtClean="0"/>
              <a:t>, T., &amp; </a:t>
            </a:r>
            <a:r>
              <a:rPr lang="en-US" sz="1800" dirty="0" err="1" smtClean="0"/>
              <a:t>Vaiana</a:t>
            </a:r>
            <a:r>
              <a:rPr lang="en-US" sz="1800" dirty="0" smtClean="0"/>
              <a:t>, R. (2012). A mobile application for road surface quality control: </a:t>
            </a:r>
            <a:r>
              <a:rPr lang="en-US" sz="1800" dirty="0" err="1" smtClean="0"/>
              <a:t>UNIquALroad</a:t>
            </a:r>
            <a:r>
              <a:rPr lang="en-US" sz="1800" dirty="0" smtClean="0"/>
              <a:t>. </a:t>
            </a:r>
            <a:r>
              <a:rPr lang="en-US" sz="1800" dirty="0" err="1" smtClean="0"/>
              <a:t>Procedia</a:t>
            </a:r>
            <a:r>
              <a:rPr lang="en-US" sz="1800" dirty="0" smtClean="0"/>
              <a:t> - Social and Behavioral Science ,54, 1135-1144, DOI: 10.1016/j.sbspro.2012.09.828. </a:t>
            </a:r>
            <a:endParaRPr lang="en-US" sz="1800" dirty="0" smtClean="0"/>
          </a:p>
          <a:p>
            <a:pPr marL="542925" indent="-542925" algn="just" defTabSz="457200" fontAlgn="base">
              <a:spcBef>
                <a:spcPts val="400"/>
              </a:spcBef>
              <a:spcAft>
                <a:spcPct val="0"/>
              </a:spcAft>
              <a:buClr>
                <a:srgbClr val="C00000"/>
              </a:buClr>
              <a:buSzPct val="99000"/>
              <a:buFont typeface="+mj-lt"/>
              <a:buAutoNum type="arabicPeriod"/>
            </a:pPr>
            <a:r>
              <a:rPr lang="en-US" sz="1800" dirty="0" err="1" smtClean="0"/>
              <a:t>Bhoraskar</a:t>
            </a:r>
            <a:r>
              <a:rPr lang="en-US" sz="1800" dirty="0" smtClean="0"/>
              <a:t>, R., </a:t>
            </a:r>
            <a:r>
              <a:rPr lang="en-US" sz="1800" dirty="0" err="1" smtClean="0"/>
              <a:t>Vankadhara</a:t>
            </a:r>
            <a:r>
              <a:rPr lang="en-US" sz="1800" dirty="0" smtClean="0"/>
              <a:t>, N., Raman, B., &amp; </a:t>
            </a:r>
            <a:r>
              <a:rPr lang="en-US" sz="1800" dirty="0" err="1" smtClean="0"/>
              <a:t>Kulkarni</a:t>
            </a:r>
            <a:r>
              <a:rPr lang="en-US" sz="1800" dirty="0" smtClean="0"/>
              <a:t>, P. (2012). Wolverine: Traffic and road condition estimation using </a:t>
            </a:r>
            <a:r>
              <a:rPr lang="en-US" sz="1800" dirty="0" err="1" smtClean="0"/>
              <a:t>smartphone</a:t>
            </a:r>
            <a:r>
              <a:rPr lang="en-US" sz="1800" dirty="0" smtClean="0"/>
              <a:t> sensors. </a:t>
            </a:r>
            <a:endParaRPr lang="en-US" sz="1800" dirty="0" smtClean="0"/>
          </a:p>
          <a:p>
            <a:pPr marL="542925" indent="-542925" algn="just" defTabSz="457200" fontAlgn="base">
              <a:spcBef>
                <a:spcPts val="400"/>
              </a:spcBef>
              <a:spcAft>
                <a:spcPct val="0"/>
              </a:spcAft>
              <a:buClr>
                <a:srgbClr val="C00000"/>
              </a:buClr>
              <a:buSzPct val="99000"/>
              <a:buFont typeface="+mj-lt"/>
              <a:buAutoNum type="arabicPeriod"/>
            </a:pPr>
            <a:r>
              <a:rPr lang="en-US" sz="1800" dirty="0" smtClean="0"/>
              <a:t>PRISM</a:t>
            </a:r>
            <a:r>
              <a:rPr lang="en-US" sz="1800" dirty="0" smtClean="0"/>
              <a:t>: Platform for Remote Sensing using </a:t>
            </a:r>
            <a:r>
              <a:rPr lang="en-US" sz="1800" dirty="0" err="1" smtClean="0"/>
              <a:t>Smartphones</a:t>
            </a:r>
            <a:r>
              <a:rPr lang="en-US" sz="1800" dirty="0" smtClean="0"/>
              <a:t>. MobiSys’10, June 15–18, San Francisco, California, USA. </a:t>
            </a:r>
            <a:endParaRPr lang="en-US" sz="1800" dirty="0" smtClean="0"/>
          </a:p>
          <a:p>
            <a:pPr marL="542925" indent="-542925" algn="just" defTabSz="457200" fontAlgn="base">
              <a:spcBef>
                <a:spcPts val="400"/>
              </a:spcBef>
              <a:spcAft>
                <a:spcPct val="0"/>
              </a:spcAft>
              <a:buClr>
                <a:srgbClr val="C00000"/>
              </a:buClr>
              <a:buSzPct val="99000"/>
              <a:buFont typeface="+mj-lt"/>
              <a:buAutoNum type="arabicPeriod"/>
            </a:pPr>
            <a:r>
              <a:rPr lang="en-US" sz="1800" dirty="0" smtClean="0"/>
              <a:t>Environmental </a:t>
            </a:r>
            <a:r>
              <a:rPr lang="en-US" sz="1800" dirty="0" smtClean="0"/>
              <a:t>Impacts and Fuel Efficiency of Road Pavements, Industry </a:t>
            </a:r>
            <a:r>
              <a:rPr lang="en-US" sz="1800" dirty="0" err="1" smtClean="0"/>
              <a:t>ReportMarch</a:t>
            </a:r>
            <a:r>
              <a:rPr lang="en-US" sz="1800" dirty="0" smtClean="0"/>
              <a:t> 2004. </a:t>
            </a:r>
            <a:endParaRPr lang="en-US" sz="1800" dirty="0" smtClean="0"/>
          </a:p>
          <a:p>
            <a:pPr marL="542925" indent="-542925" algn="just" defTabSz="457200" fontAlgn="base">
              <a:spcBef>
                <a:spcPts val="400"/>
              </a:spcBef>
              <a:spcAft>
                <a:spcPct val="0"/>
              </a:spcAft>
              <a:buClr>
                <a:srgbClr val="C00000"/>
              </a:buClr>
              <a:buSzPct val="99000"/>
              <a:buFont typeface="+mj-lt"/>
              <a:buAutoNum type="arabicPeriod"/>
            </a:pPr>
            <a:r>
              <a:rPr lang="en-US" sz="1800" dirty="0" smtClean="0"/>
              <a:t>Mohan</a:t>
            </a:r>
            <a:r>
              <a:rPr lang="en-US" sz="1800" dirty="0" smtClean="0"/>
              <a:t>, P., </a:t>
            </a:r>
            <a:r>
              <a:rPr lang="en-US" sz="1800" dirty="0" err="1" smtClean="0"/>
              <a:t>Padmanabhan</a:t>
            </a:r>
            <a:r>
              <a:rPr lang="en-US" sz="1800" dirty="0" smtClean="0"/>
              <a:t>, V. N., &amp; </a:t>
            </a:r>
            <a:r>
              <a:rPr lang="en-US" sz="1800" dirty="0" err="1" smtClean="0"/>
              <a:t>Ramjee</a:t>
            </a:r>
            <a:r>
              <a:rPr lang="en-US" sz="1800" dirty="0" smtClean="0"/>
              <a:t>, R. (2008). </a:t>
            </a:r>
            <a:r>
              <a:rPr lang="en-US" sz="1800" dirty="0" err="1" smtClean="0"/>
              <a:t>Nericell</a:t>
            </a:r>
            <a:r>
              <a:rPr lang="en-US" sz="1800" dirty="0" smtClean="0"/>
              <a:t>: Rich monitoring of road and traffic conditions using mobile </a:t>
            </a:r>
            <a:r>
              <a:rPr lang="en-US" sz="1800" dirty="0" err="1" smtClean="0"/>
              <a:t>smartphone</a:t>
            </a:r>
            <a:r>
              <a:rPr lang="en-US" sz="1800" dirty="0" smtClean="0"/>
              <a:t>. ACM </a:t>
            </a:r>
            <a:r>
              <a:rPr lang="en-US" sz="1800" dirty="0" err="1" smtClean="0"/>
              <a:t>SenSys</a:t>
            </a:r>
            <a:r>
              <a:rPr lang="en-US" sz="1800" dirty="0" smtClean="0"/>
              <a:t> 2008, Raleigh, North Carolina, USA.</a:t>
            </a:r>
            <a:endParaRPr lang="en-IN" sz="1800" b="1" dirty="0">
              <a:solidFill>
                <a:srgbClr val="000066"/>
              </a:solidFill>
              <a:latin typeface="Verdana"/>
              <a:ea typeface="ＭＳ Ｐゴシック" charset="0"/>
              <a:cs typeface="Verdana"/>
            </a:endParaRPr>
          </a:p>
        </p:txBody>
      </p:sp>
    </p:spTree>
    <p:custDataLst>
      <p:tags r:id="rId1"/>
    </p:custDataLst>
    <p:extLst>
      <p:ext uri="{BB962C8B-B14F-4D97-AF65-F5344CB8AC3E}">
        <p14:creationId xmlns:p14="http://schemas.microsoft.com/office/powerpoint/2010/main" xmlns="" val="68201284"/>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39" y="4821728"/>
            <a:ext cx="9148419" cy="316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779" y="503770"/>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8" name="Picture 4"/>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15701" y="4758279"/>
            <a:ext cx="9147559" cy="4571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Date Placeholder 8"/>
          <p:cNvSpPr>
            <a:spLocks noGrp="1"/>
          </p:cNvSpPr>
          <p:nvPr>
            <p:ph type="dt" sz="half" idx="10"/>
          </p:nvPr>
        </p:nvSpPr>
        <p:spPr>
          <a:xfrm>
            <a:off x="73000" y="4826814"/>
            <a:ext cx="2133600" cy="273842"/>
          </a:xfrm>
        </p:spPr>
        <p:txBody>
          <a:bodyPr/>
          <a:lstStyle/>
          <a:p>
            <a:fld id="{B4756EE7-318E-4EA5-B5BC-7F3019CC0DA2}" type="datetime1">
              <a:rPr lang="en-IN" smtClean="0">
                <a:solidFill>
                  <a:srgbClr val="000099"/>
                </a:solidFill>
              </a:rPr>
              <a:pPr/>
              <a:t>28-04-2023</a:t>
            </a:fld>
            <a:endParaRPr lang="en-IN">
              <a:solidFill>
                <a:srgbClr val="000099"/>
              </a:solidFill>
            </a:endParaRPr>
          </a:p>
        </p:txBody>
      </p:sp>
      <p:sp>
        <p:nvSpPr>
          <p:cNvPr id="10" name="Footer Placeholder 9"/>
          <p:cNvSpPr>
            <a:spLocks noGrp="1"/>
          </p:cNvSpPr>
          <p:nvPr>
            <p:ph type="ftr" sz="quarter" idx="11"/>
          </p:nvPr>
        </p:nvSpPr>
        <p:spPr>
          <a:xfrm>
            <a:off x="1403648" y="4818188"/>
            <a:ext cx="6912768" cy="273842"/>
          </a:xfrm>
        </p:spPr>
        <p:txBody>
          <a:bodyPr/>
          <a:lstStyle/>
          <a:p>
            <a:r>
              <a:rPr lang="en-US">
                <a:solidFill>
                  <a:srgbClr val="000099"/>
                </a:solidFill>
              </a:rPr>
              <a:t>Computer Science and Engineering, Nehru Institute of Engineering and Technology</a:t>
            </a:r>
            <a:endParaRPr lang="en-IN">
              <a:solidFill>
                <a:srgbClr val="000099"/>
              </a:solidFill>
            </a:endParaRPr>
          </a:p>
        </p:txBody>
      </p:sp>
      <p:sp>
        <p:nvSpPr>
          <p:cNvPr id="12" name="Slide Number Placeholder 11"/>
          <p:cNvSpPr>
            <a:spLocks noGrp="1"/>
          </p:cNvSpPr>
          <p:nvPr>
            <p:ph type="sldNum" sz="quarter" idx="12"/>
          </p:nvPr>
        </p:nvSpPr>
        <p:spPr>
          <a:xfrm>
            <a:off x="6889615" y="4835440"/>
            <a:ext cx="2133600" cy="273842"/>
          </a:xfrm>
        </p:spPr>
        <p:txBody>
          <a:bodyPr/>
          <a:lstStyle/>
          <a:p>
            <a:fld id="{77DD58CB-5C75-4AB0-B097-2BE57FD99A99}" type="slidenum">
              <a:rPr lang="en-IN" smtClean="0">
                <a:solidFill>
                  <a:srgbClr val="000099"/>
                </a:solidFill>
              </a:rPr>
              <a:pPr/>
              <a:t>23</a:t>
            </a:fld>
            <a:endParaRPr lang="en-IN">
              <a:solidFill>
                <a:srgbClr val="000099"/>
              </a:solidFill>
            </a:endParaRPr>
          </a:p>
        </p:txBody>
      </p:sp>
      <p:pic>
        <p:nvPicPr>
          <p:cNvPr id="16" name="Picture 5"/>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8426920" y="42844"/>
            <a:ext cx="672958" cy="4145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026" name="Picture 2"/>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1328912" y="843558"/>
            <a:ext cx="6486176" cy="36484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xmlns="" val="3080186987"/>
      </p:ext>
    </p:extLst>
  </p:cSld>
  <p:clrMapOvr>
    <a:masterClrMapping/>
  </p:clrMapOvr>
  <mc:AlternateContent xmlns:mc="http://schemas.openxmlformats.org/markup-compatibility/2006">
    <mc:Choice xmlns:p14="http://schemas.microsoft.com/office/powerpoint/2010/main" xmlns="" Requires="p14">
      <p:transition spd="slow" p14:dur="1500">
        <p:wipe/>
      </p:transition>
    </mc:Choice>
    <mc:Fallback>
      <p:transition spd="slow">
        <p:wip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2.4|1.6|8.8"/>
</p:tagLst>
</file>

<file path=ppt/tags/tag2.xml><?xml version="1.0" encoding="utf-8"?>
<p:tagLst xmlns:a="http://schemas.openxmlformats.org/drawingml/2006/main" xmlns:r="http://schemas.openxmlformats.org/officeDocument/2006/relationships" xmlns:p="http://schemas.openxmlformats.org/presentationml/2006/main">
  <p:tag name="TIMING" val="|2.4|1.6|8.8"/>
</p:tagLst>
</file>

<file path=ppt/tags/tag3.xml><?xml version="1.0" encoding="utf-8"?>
<p:tagLst xmlns:a="http://schemas.openxmlformats.org/drawingml/2006/main" xmlns:r="http://schemas.openxmlformats.org/officeDocument/2006/relationships" xmlns:p="http://schemas.openxmlformats.org/presentationml/2006/main">
  <p:tag name="TIMING" val="|2.4|1.6|8.8"/>
</p:tagLst>
</file>

<file path=ppt/tags/tag4.xml><?xml version="1.0" encoding="utf-8"?>
<p:tagLst xmlns:a="http://schemas.openxmlformats.org/drawingml/2006/main" xmlns:r="http://schemas.openxmlformats.org/officeDocument/2006/relationships" xmlns:p="http://schemas.openxmlformats.org/presentationml/2006/main">
  <p:tag name="TIMING" val="|2.4|1.6|8.8"/>
</p:tagLst>
</file>

<file path=ppt/tags/tag5.xml><?xml version="1.0" encoding="utf-8"?>
<p:tagLst xmlns:a="http://schemas.openxmlformats.org/drawingml/2006/main" xmlns:r="http://schemas.openxmlformats.org/officeDocument/2006/relationships" xmlns:p="http://schemas.openxmlformats.org/presentationml/2006/main">
  <p:tag name="TIMING" val="|2.4|1.6|8.8"/>
</p:tagLst>
</file>

<file path=ppt/tags/tag6.xml><?xml version="1.0" encoding="utf-8"?>
<p:tagLst xmlns:a="http://schemas.openxmlformats.org/drawingml/2006/main" xmlns:r="http://schemas.openxmlformats.org/officeDocument/2006/relationships" xmlns:p="http://schemas.openxmlformats.org/presentationml/2006/main">
  <p:tag name="TIMING" val="|2.4|1.6|8.8"/>
</p:tagLst>
</file>

<file path=ppt/tags/tag7.xml><?xml version="1.0" encoding="utf-8"?>
<p:tagLst xmlns:a="http://schemas.openxmlformats.org/drawingml/2006/main" xmlns:r="http://schemas.openxmlformats.org/officeDocument/2006/relationships" xmlns:p="http://schemas.openxmlformats.org/presentationml/2006/main">
  <p:tag name="TIMING" val="|2.4|1.6|8.8"/>
</p:tagLst>
</file>

<file path=ppt/tags/tag8.xml><?xml version="1.0" encoding="utf-8"?>
<p:tagLst xmlns:a="http://schemas.openxmlformats.org/drawingml/2006/main" xmlns:r="http://schemas.openxmlformats.org/officeDocument/2006/relationships" xmlns:p="http://schemas.openxmlformats.org/presentationml/2006/main">
  <p:tag name="TIMING" val="|2.4|1.6|8.8"/>
</p:tagLst>
</file>

<file path=ppt/tags/tag9.xml><?xml version="1.0" encoding="utf-8"?>
<p:tagLst xmlns:a="http://schemas.openxmlformats.org/drawingml/2006/main" xmlns:r="http://schemas.openxmlformats.org/officeDocument/2006/relationships" xmlns:p="http://schemas.openxmlformats.org/presentationml/2006/main">
  <p:tag name="TIMING" val="|2.4|1.6|8.8"/>
</p:tagLst>
</file>

<file path=ppt/tags/tag10.xml><?xml version="1.0" encoding="utf-8"?>
<p:tagLst xmlns:a="http://schemas.openxmlformats.org/drawingml/2006/main" xmlns:r="http://schemas.openxmlformats.org/officeDocument/2006/relationships" xmlns:p="http://schemas.openxmlformats.org/presentationml/2006/main">
  <p:tag name="TIMING" val="|2.4|1.6|8.8"/>
</p:tagLst>
</file>

<file path=ppt/tags/tag11.xml><?xml version="1.0" encoding="utf-8"?>
<p:tagLst xmlns:a="http://schemas.openxmlformats.org/drawingml/2006/main" xmlns:r="http://schemas.openxmlformats.org/officeDocument/2006/relationships" xmlns:p="http://schemas.openxmlformats.org/presentationml/2006/main">
  <p:tag name="TIMING" val="|2.4|1.6|8.8"/>
</p:tagLst>
</file>

<file path=ppt/tags/tag12.xml><?xml version="1.0" encoding="utf-8"?>
<p:tagLst xmlns:a="http://schemas.openxmlformats.org/drawingml/2006/main" xmlns:r="http://schemas.openxmlformats.org/officeDocument/2006/relationships" xmlns:p="http://schemas.openxmlformats.org/presentationml/2006/main">
  <p:tag name="TIMING" val="|2.4|1.6|8.8"/>
</p:tagLst>
</file>

<file path=ppt/theme/theme1.xml><?xml version="1.0" encoding="utf-8"?>
<a:theme xmlns:a="http://schemas.openxmlformats.org/drawingml/2006/main" name="1_Office Theme">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11757</TotalTime>
  <Words>2308</Words>
  <Application>Microsoft Office PowerPoint</Application>
  <PresentationFormat>On-screen Show (16:9)</PresentationFormat>
  <Paragraphs>240</Paragraphs>
  <Slides>23</Slides>
  <Notes>4</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1_Office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CS8251 Programming in C</dc:title>
  <dc:creator>Subhasini</dc:creator>
  <cp:lastModifiedBy>Windows User</cp:lastModifiedBy>
  <cp:revision>763</cp:revision>
  <cp:lastPrinted>2022-02-24T06:33:44Z</cp:lastPrinted>
  <dcterms:created xsi:type="dcterms:W3CDTF">2020-04-05T12:51:27Z</dcterms:created>
  <dcterms:modified xsi:type="dcterms:W3CDTF">2023-04-28T05:29:22Z</dcterms:modified>
</cp:coreProperties>
</file>